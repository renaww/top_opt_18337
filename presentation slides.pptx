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25"/>
  </p:notesMasterIdLst>
  <p:handoutMasterIdLst>
    <p:handoutMasterId r:id="rId26"/>
  </p:handoutMasterIdLst>
  <p:sldIdLst>
    <p:sldId id="1519" r:id="rId5"/>
    <p:sldId id="1541" r:id="rId6"/>
    <p:sldId id="1542" r:id="rId7"/>
    <p:sldId id="1543" r:id="rId8"/>
    <p:sldId id="1559" r:id="rId9"/>
    <p:sldId id="1544" r:id="rId10"/>
    <p:sldId id="1545" r:id="rId11"/>
    <p:sldId id="1546" r:id="rId12"/>
    <p:sldId id="1547" r:id="rId13"/>
    <p:sldId id="1548" r:id="rId14"/>
    <p:sldId id="1550" r:id="rId15"/>
    <p:sldId id="1551" r:id="rId16"/>
    <p:sldId id="1552" r:id="rId17"/>
    <p:sldId id="1553" r:id="rId18"/>
    <p:sldId id="1554" r:id="rId19"/>
    <p:sldId id="1555" r:id="rId20"/>
    <p:sldId id="1557" r:id="rId21"/>
    <p:sldId id="1558" r:id="rId22"/>
    <p:sldId id="1556" r:id="rId23"/>
    <p:sldId id="156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361A"/>
    <a:srgbClr val="A8BAB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990" autoAdjust="0"/>
  </p:normalViewPr>
  <p:slideViewPr>
    <p:cSldViewPr snapToGrid="0">
      <p:cViewPr varScale="1">
        <p:scale>
          <a:sx n="103" d="100"/>
          <a:sy n="103" d="100"/>
        </p:scale>
        <p:origin x="1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5/6/2026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MIT 18.337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5/12/2026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5/12/2026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5/12/2026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May 6,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MIT 18.337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1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0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0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55.jpe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5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73.png"/><Relationship Id="rId4" Type="http://schemas.openxmlformats.org/officeDocument/2006/relationships/image" Target="../media/image72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A057-FF69-DB4E-18F5-A26FC0C91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965" y="1439562"/>
            <a:ext cx="8907100" cy="2420797"/>
          </a:xfrm>
        </p:spPr>
        <p:txBody>
          <a:bodyPr>
            <a:normAutofit/>
          </a:bodyPr>
          <a:lstStyle/>
          <a:p>
            <a:r>
              <a:rPr lang="en-US" b="1" dirty="0"/>
              <a:t>End-to-end Inspectable Topology Optimization in Julia via Adjoint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F3FA-87A9-9163-3213-65A6A97B1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9965" y="4501708"/>
            <a:ext cx="5086118" cy="793162"/>
          </a:xfrm>
        </p:spPr>
        <p:txBody>
          <a:bodyPr>
            <a:normAutofit/>
          </a:bodyPr>
          <a:lstStyle/>
          <a:p>
            <a:r>
              <a:rPr lang="en-US" dirty="0"/>
              <a:t>Presented by Rena Wang</a:t>
            </a:r>
          </a:p>
          <a:p>
            <a:r>
              <a:rPr lang="en-US" dirty="0"/>
              <a:t>MIT </a:t>
            </a:r>
            <a:r>
              <a:rPr lang="en-US" dirty="0" err="1"/>
              <a:t>MechE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8716B-A604-F5E9-7C40-88916FA13E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89965" y="3940846"/>
            <a:ext cx="3494314" cy="480373"/>
          </a:xfrm>
        </p:spPr>
        <p:txBody>
          <a:bodyPr/>
          <a:lstStyle/>
          <a:p>
            <a:r>
              <a:rPr lang="en-US" dirty="0"/>
              <a:t>May 6, 2026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D0C316D-BAFB-B693-0446-F1FD10B464B0}"/>
              </a:ext>
            </a:extLst>
          </p:cNvPr>
          <p:cNvSpPr txBox="1">
            <a:spLocks/>
          </p:cNvSpPr>
          <p:nvPr/>
        </p:nvSpPr>
        <p:spPr>
          <a:xfrm>
            <a:off x="6917726" y="5792851"/>
            <a:ext cx="2547551" cy="793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Fun fact: I’ve done ~7 different types of dance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D4BDF6-F206-3344-E422-0E69C4C9E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839" y="5294870"/>
            <a:ext cx="1502511" cy="136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D4FF73D-DF3F-B261-0AFA-DCA1DA594FB8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7EAC18E-06D6-6522-44CF-20F02FE25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/>
              <a:t>Topology Optimization - Intro</a:t>
            </a:r>
            <a:endParaRPr lang="en-US" sz="44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BFAB3CD-C64F-669B-F98A-1BDB662C7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231" y="1639203"/>
            <a:ext cx="10886304" cy="899572"/>
          </a:xfrm>
        </p:spPr>
        <p:txBody>
          <a:bodyPr>
            <a:normAutofit/>
          </a:bodyPr>
          <a:lstStyle/>
          <a:p>
            <a:r>
              <a:rPr lang="en-US" sz="2000" dirty="0"/>
              <a:t>Given a design space and constraints </a:t>
            </a:r>
            <a:r>
              <a:rPr lang="en-US" sz="2000" b="1" dirty="0"/>
              <a:t>where should material go </a:t>
            </a:r>
            <a:r>
              <a:rPr lang="en-US" sz="2000" dirty="0"/>
              <a:t>so the structure performs best?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721A0E57-4ECA-43E9-BA93-32E225FB7746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A439D2E-634D-7572-B8BB-903FF81A5443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6B583898-90F5-936D-A244-EBCD1E6B9753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2</a:t>
            </a:fld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A5DF63-2886-38F3-66F0-425660629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82" y="2476925"/>
            <a:ext cx="7260421" cy="1738863"/>
          </a:xfrm>
          <a:prstGeom prst="rect">
            <a:avLst/>
          </a:prstGeom>
        </p:spPr>
      </p:pic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5EF2D72C-0678-33D4-4BC9-AFF031718ED2}"/>
              </a:ext>
            </a:extLst>
          </p:cNvPr>
          <p:cNvSpPr txBox="1">
            <a:spLocks/>
          </p:cNvSpPr>
          <p:nvPr/>
        </p:nvSpPr>
        <p:spPr>
          <a:xfrm>
            <a:off x="417013" y="6492875"/>
            <a:ext cx="1087088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[1] Siemens Parasolid v32.0 Release Highlights                               [2] </a:t>
            </a:r>
            <a:r>
              <a:rPr lang="en-US" sz="1000" dirty="0" err="1"/>
              <a:t>Novatr</a:t>
            </a:r>
            <a:r>
              <a:rPr lang="en-US" sz="1000" dirty="0"/>
              <a:t> Topology Optimization guide                               [3] Ansys </a:t>
            </a:r>
          </a:p>
        </p:txBody>
      </p:sp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5B96E853-DABE-BDF4-097F-E6C7E26C8FD5}"/>
              </a:ext>
            </a:extLst>
          </p:cNvPr>
          <p:cNvSpPr txBox="1">
            <a:spLocks/>
          </p:cNvSpPr>
          <p:nvPr/>
        </p:nvSpPr>
        <p:spPr>
          <a:xfrm>
            <a:off x="807357" y="3936508"/>
            <a:ext cx="360357" cy="2792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[1]</a:t>
            </a:r>
          </a:p>
        </p:txBody>
      </p:sp>
      <p:pic>
        <p:nvPicPr>
          <p:cNvPr id="23" name="Picture 22" descr="material optimisation for Audi Space Frame principle">
            <a:extLst>
              <a:ext uri="{FF2B5EF4-FFF2-40B4-BE49-F238E27FC236}">
                <a16:creationId xmlns:a16="http://schemas.microsoft.com/office/drawing/2014/main" id="{54AAA52B-73BB-8DDE-7F11-5C26D92C2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778" y="2129101"/>
            <a:ext cx="3494314" cy="2197248"/>
          </a:xfrm>
          <a:prstGeom prst="rect">
            <a:avLst/>
          </a:prstGeom>
        </p:spPr>
      </p:pic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6DF46EE4-3021-4F8D-C0A4-A4445CBF7322}"/>
              </a:ext>
            </a:extLst>
          </p:cNvPr>
          <p:cNvSpPr txBox="1">
            <a:spLocks/>
          </p:cNvSpPr>
          <p:nvPr/>
        </p:nvSpPr>
        <p:spPr>
          <a:xfrm>
            <a:off x="11107719" y="4008590"/>
            <a:ext cx="360357" cy="2792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[2]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5AC7E-021C-CE09-5E4B-60837E5E3FF7}"/>
              </a:ext>
            </a:extLst>
          </p:cNvPr>
          <p:cNvSpPr txBox="1"/>
          <p:nvPr/>
        </p:nvSpPr>
        <p:spPr>
          <a:xfrm>
            <a:off x="3047486" y="3205424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CE33930-B56E-8091-CE3A-C72C843D0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56" y="4222549"/>
            <a:ext cx="2735689" cy="1836600"/>
          </a:xfrm>
          <a:prstGeom prst="rect">
            <a:avLst/>
          </a:prstGeom>
        </p:spPr>
      </p:pic>
      <p:pic>
        <p:nvPicPr>
          <p:cNvPr id="33" name="Picture 32" descr="Ansys Topology Optimization | Lightweighting &amp; Shape Optimization">
            <a:extLst>
              <a:ext uri="{FF2B5EF4-FFF2-40B4-BE49-F238E27FC236}">
                <a16:creationId xmlns:a16="http://schemas.microsoft.com/office/drawing/2014/main" id="{90FB866A-1F0A-787D-11E2-A6282F3E6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574" y="4326349"/>
            <a:ext cx="2622722" cy="174848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D201782-CC2C-9CB4-8040-4DAA7D630E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942" b="20862"/>
          <a:stretch>
            <a:fillRect/>
          </a:stretch>
        </p:blipFill>
        <p:spPr>
          <a:xfrm>
            <a:off x="4879595" y="4336692"/>
            <a:ext cx="2251577" cy="1608314"/>
          </a:xfrm>
          <a:prstGeom prst="rect">
            <a:avLst/>
          </a:prstGeom>
        </p:spPr>
      </p:pic>
      <p:sp>
        <p:nvSpPr>
          <p:cNvPr id="39" name="Date Placeholder 2">
            <a:extLst>
              <a:ext uri="{FF2B5EF4-FFF2-40B4-BE49-F238E27FC236}">
                <a16:creationId xmlns:a16="http://schemas.microsoft.com/office/drawing/2014/main" id="{F76C2B1D-EF75-77B1-2573-4C736E953D55}"/>
              </a:ext>
            </a:extLst>
          </p:cNvPr>
          <p:cNvSpPr txBox="1">
            <a:spLocks/>
          </p:cNvSpPr>
          <p:nvPr/>
        </p:nvSpPr>
        <p:spPr>
          <a:xfrm>
            <a:off x="11088179" y="5665726"/>
            <a:ext cx="360357" cy="2792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212403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61CC-0F3C-304C-D51A-603958BE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ology Optimization (Introduction) Part 1">
            <a:extLst>
              <a:ext uri="{FF2B5EF4-FFF2-40B4-BE49-F238E27FC236}">
                <a16:creationId xmlns:a16="http://schemas.microsoft.com/office/drawing/2014/main" id="{BB2CADDA-5769-768C-D596-6C3DC401D0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11" t="1621" r="13025" b="74568"/>
          <a:stretch>
            <a:fillRect/>
          </a:stretch>
        </p:blipFill>
        <p:spPr>
          <a:xfrm>
            <a:off x="2649309" y="1517732"/>
            <a:ext cx="1852842" cy="1066718"/>
          </a:xfrm>
          <a:prstGeom prst="rect">
            <a:avLst/>
          </a:prstGeom>
        </p:spPr>
      </p:pic>
      <p:pic>
        <p:nvPicPr>
          <p:cNvPr id="3" name="Picture 2" descr="Flowchart of the present multimaterial topology optimization | Download  Scientific Diagram">
            <a:extLst>
              <a:ext uri="{FF2B5EF4-FFF2-40B4-BE49-F238E27FC236}">
                <a16:creationId xmlns:a16="http://schemas.microsoft.com/office/drawing/2014/main" id="{A5F93464-8090-F3C0-0514-E79E8FDE6D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67" r="42063"/>
          <a:stretch>
            <a:fillRect/>
          </a:stretch>
        </p:blipFill>
        <p:spPr>
          <a:xfrm>
            <a:off x="5070389" y="1742108"/>
            <a:ext cx="1791730" cy="45207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927AD0-DC0D-F9EA-73D5-1C3AB89406D4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4A5308E9-2164-6EB2-3910-7F876D77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Finite Element Method (FEM)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3E7837ED-0498-D05B-B942-E5B9B889DD2D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934E7134-C152-6039-0A8D-CF4B3924B48B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B0E1C44-3860-F3B6-774C-32CBCB973C64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3</a:t>
            </a:fld>
            <a:endParaRPr lang="en-US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3C7CE3-005B-AFFB-9211-F35641FF3439}"/>
              </a:ext>
            </a:extLst>
          </p:cNvPr>
          <p:cNvCxnSpPr/>
          <p:nvPr/>
        </p:nvCxnSpPr>
        <p:spPr>
          <a:xfrm flipH="1">
            <a:off x="4502151" y="1905000"/>
            <a:ext cx="9588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5908277-8117-40BC-13E1-1311E227D162}"/>
              </a:ext>
            </a:extLst>
          </p:cNvPr>
          <p:cNvSpPr/>
          <p:nvPr/>
        </p:nvSpPr>
        <p:spPr>
          <a:xfrm>
            <a:off x="2785979" y="1742108"/>
            <a:ext cx="112295" cy="97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CEE55C-491F-4A86-B02E-C2A5CACFC2D9}"/>
              </a:ext>
            </a:extLst>
          </p:cNvPr>
          <p:cNvSpPr/>
          <p:nvPr/>
        </p:nvSpPr>
        <p:spPr>
          <a:xfrm>
            <a:off x="2882231" y="1953704"/>
            <a:ext cx="112295" cy="9738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2D192F-E13B-1496-77A0-CDB90FDCB971}"/>
              </a:ext>
            </a:extLst>
          </p:cNvPr>
          <p:cNvSpPr/>
          <p:nvPr/>
        </p:nvSpPr>
        <p:spPr>
          <a:xfrm>
            <a:off x="3173704" y="1742108"/>
            <a:ext cx="112295" cy="9738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F1A06-03DB-5818-F375-E7648D3EEC22}"/>
                  </a:ext>
                </a:extLst>
              </p:cNvPr>
              <p:cNvSpPr txBox="1"/>
              <p:nvPr/>
            </p:nvSpPr>
            <p:spPr>
              <a:xfrm>
                <a:off x="562232" y="1695450"/>
                <a:ext cx="194831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Mesh with </a:t>
                </a:r>
                <a:r>
                  <a:rPr lang="en-US" sz="1400" i="1" dirty="0"/>
                  <a:t>finite elements </a:t>
                </a:r>
                <a:r>
                  <a:rPr lang="en-US" sz="1400" dirty="0"/>
                  <a:t>and densities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F1A06-03DB-5818-F375-E7648D3EE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32" y="1695450"/>
                <a:ext cx="1948317" cy="954107"/>
              </a:xfrm>
              <a:prstGeom prst="rect">
                <a:avLst/>
              </a:prstGeom>
              <a:blipFill>
                <a:blip r:embed="rId4"/>
                <a:stretch>
                  <a:fillRect l="-938" t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 descr="Topology Optimization (Introduction) Part 1">
            <a:extLst>
              <a:ext uri="{FF2B5EF4-FFF2-40B4-BE49-F238E27FC236}">
                <a16:creationId xmlns:a16="http://schemas.microsoft.com/office/drawing/2014/main" id="{735C9E04-2452-FD00-35BE-757DF97C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3" t="4055" r="65965" b="72969"/>
          <a:stretch>
            <a:fillRect/>
          </a:stretch>
        </p:blipFill>
        <p:spPr>
          <a:xfrm>
            <a:off x="7314476" y="1953704"/>
            <a:ext cx="2228215" cy="888197"/>
          </a:xfrm>
          <a:prstGeom prst="rect">
            <a:avLst/>
          </a:prstGeom>
        </p:spPr>
      </p:pic>
      <p:pic>
        <p:nvPicPr>
          <p:cNvPr id="21" name="Picture 20" descr="Topology Optimization (Introduction) Part 1">
            <a:extLst>
              <a:ext uri="{FF2B5EF4-FFF2-40B4-BE49-F238E27FC236}">
                <a16:creationId xmlns:a16="http://schemas.microsoft.com/office/drawing/2014/main" id="{3D025780-C1B1-C3B5-29BC-1154E18875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3" t="26180" r="65965" b="52466"/>
          <a:stretch>
            <a:fillRect/>
          </a:stretch>
        </p:blipFill>
        <p:spPr>
          <a:xfrm>
            <a:off x="9613607" y="1953704"/>
            <a:ext cx="2228215" cy="8255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C9D998-C229-6024-22E1-B055D08CE4DF}"/>
              </a:ext>
            </a:extLst>
          </p:cNvPr>
          <p:cNvCxnSpPr>
            <a:cxnSpLocks/>
          </p:cNvCxnSpPr>
          <p:nvPr/>
        </p:nvCxnSpPr>
        <p:spPr>
          <a:xfrm>
            <a:off x="6634475" y="2347404"/>
            <a:ext cx="55372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Picture 23" descr="Topology Optimization (Introduction) Part 1">
            <a:extLst>
              <a:ext uri="{FF2B5EF4-FFF2-40B4-BE49-F238E27FC236}">
                <a16:creationId xmlns:a16="http://schemas.microsoft.com/office/drawing/2014/main" id="{8B30FB2B-8E8A-52C4-31E3-7995A85D8D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99" t="23660" r="2494" b="50543"/>
          <a:stretch>
            <a:fillRect/>
          </a:stretch>
        </p:blipFill>
        <p:spPr>
          <a:xfrm>
            <a:off x="1473061" y="3022029"/>
            <a:ext cx="2485250" cy="1066717"/>
          </a:xfrm>
          <a:prstGeom prst="rect">
            <a:avLst/>
          </a:prstGeom>
        </p:spPr>
      </p:pic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467761A-A5FF-58BE-F737-8C227D5CF5A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10000" y="2956921"/>
            <a:ext cx="1358560" cy="598463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Topology Optimization (Introduction) Part 1">
            <a:extLst>
              <a:ext uri="{FF2B5EF4-FFF2-40B4-BE49-F238E27FC236}">
                <a16:creationId xmlns:a16="http://schemas.microsoft.com/office/drawing/2014/main" id="{FB5151A2-001E-E72B-56F0-05948C3B7D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58" t="48635" r="67393" b="27227"/>
          <a:stretch>
            <a:fillRect/>
          </a:stretch>
        </p:blipFill>
        <p:spPr>
          <a:xfrm>
            <a:off x="7785960" y="3630243"/>
            <a:ext cx="1555300" cy="1008005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A845E61-8E1A-1119-9004-6FB5D64D5CDB}"/>
              </a:ext>
            </a:extLst>
          </p:cNvPr>
          <p:cNvCxnSpPr>
            <a:cxnSpLocks/>
          </p:cNvCxnSpPr>
          <p:nvPr/>
        </p:nvCxnSpPr>
        <p:spPr>
          <a:xfrm>
            <a:off x="6634475" y="4195254"/>
            <a:ext cx="99187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 descr="Topology Optimization (Introduction) Part 1">
            <a:extLst>
              <a:ext uri="{FF2B5EF4-FFF2-40B4-BE49-F238E27FC236}">
                <a16:creationId xmlns:a16="http://schemas.microsoft.com/office/drawing/2014/main" id="{39D62C54-A381-4601-985D-A759BB045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95" t="50491" r="12484" b="25683"/>
          <a:stretch>
            <a:fillRect/>
          </a:stretch>
        </p:blipFill>
        <p:spPr>
          <a:xfrm>
            <a:off x="9754014" y="3645039"/>
            <a:ext cx="1791730" cy="101663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79FF239-DC2C-3F0D-6F5E-5D09F02F1AD5}"/>
              </a:ext>
            </a:extLst>
          </p:cNvPr>
          <p:cNvSpPr txBox="1"/>
          <p:nvPr/>
        </p:nvSpPr>
        <p:spPr>
          <a:xfrm>
            <a:off x="7805697" y="4661670"/>
            <a:ext cx="19483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MMA Algorithm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FFBCB4-DA05-F880-7544-C44278A5BF3A}"/>
              </a:ext>
            </a:extLst>
          </p:cNvPr>
          <p:cNvSpPr txBox="1"/>
          <p:nvPr/>
        </p:nvSpPr>
        <p:spPr>
          <a:xfrm>
            <a:off x="9754014" y="4661670"/>
            <a:ext cx="1521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Updated Design</a:t>
            </a:r>
          </a:p>
        </p:txBody>
      </p:sp>
      <p:pic>
        <p:nvPicPr>
          <p:cNvPr id="38" name="Picture 37" descr="Topology Optimization (Introduction) Part 1">
            <a:extLst>
              <a:ext uri="{FF2B5EF4-FFF2-40B4-BE49-F238E27FC236}">
                <a16:creationId xmlns:a16="http://schemas.microsoft.com/office/drawing/2014/main" id="{A9AF06EC-2690-4B96-6DA5-D11B92A087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77" t="71825" r="66385" b="9376"/>
          <a:stretch>
            <a:fillRect/>
          </a:stretch>
        </p:blipFill>
        <p:spPr>
          <a:xfrm>
            <a:off x="1332496" y="4661670"/>
            <a:ext cx="2477504" cy="1117770"/>
          </a:xfrm>
          <a:prstGeom prst="rect">
            <a:avLst/>
          </a:prstGeom>
        </p:spPr>
      </p:pic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0D3B3EC-F30C-9C09-96B4-35E0881953EC}"/>
              </a:ext>
            </a:extLst>
          </p:cNvPr>
          <p:cNvCxnSpPr>
            <a:cxnSpLocks/>
          </p:cNvCxnSpPr>
          <p:nvPr/>
        </p:nvCxnSpPr>
        <p:spPr>
          <a:xfrm rot="10800000">
            <a:off x="3689350" y="5143500"/>
            <a:ext cx="1904660" cy="893328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DE34651-DDCB-7FD2-B9B8-BFF16EC92F23}"/>
                  </a:ext>
                </a:extLst>
              </p:cNvPr>
              <p:cNvSpPr txBox="1"/>
              <p:nvPr/>
            </p:nvSpPr>
            <p:spPr>
              <a:xfrm>
                <a:off x="1007349" y="5891938"/>
                <a:ext cx="328392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/>
                  <a:t>, element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/>
                  <a:t> filled with air</a:t>
                </a:r>
              </a:p>
              <a:p>
                <a:r>
                  <a:rPr lang="en-US" sz="1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400" dirty="0"/>
                  <a:t>, element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/>
                  <a:t> filled with material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DE34651-DDCB-7FD2-B9B8-BFF16EC9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349" y="5891938"/>
                <a:ext cx="3283920" cy="738664"/>
              </a:xfrm>
              <a:prstGeom prst="rect">
                <a:avLst/>
              </a:prstGeom>
              <a:blipFill>
                <a:blip r:embed="rId5"/>
                <a:stretch>
                  <a:fillRect l="-557" t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Date Placeholder 2">
            <a:extLst>
              <a:ext uri="{FF2B5EF4-FFF2-40B4-BE49-F238E27FC236}">
                <a16:creationId xmlns:a16="http://schemas.microsoft.com/office/drawing/2014/main" id="{934D3941-B55C-0915-FCA0-6D6E87ABAA74}"/>
              </a:ext>
            </a:extLst>
          </p:cNvPr>
          <p:cNvSpPr txBox="1">
            <a:spLocks/>
          </p:cNvSpPr>
          <p:nvPr/>
        </p:nvSpPr>
        <p:spPr>
          <a:xfrm>
            <a:off x="9301686" y="6407223"/>
            <a:ext cx="25401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Figure adapted from Banh et al. (2023)</a:t>
            </a:r>
          </a:p>
        </p:txBody>
      </p:sp>
    </p:spTree>
    <p:extLst>
      <p:ext uri="{BB962C8B-B14F-4D97-AF65-F5344CB8AC3E}">
        <p14:creationId xmlns:p14="http://schemas.microsoft.com/office/powerpoint/2010/main" val="46599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D06F3-2753-21DB-EF56-23949605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ology Optimization (Introduction) Part 1">
            <a:extLst>
              <a:ext uri="{FF2B5EF4-FFF2-40B4-BE49-F238E27FC236}">
                <a16:creationId xmlns:a16="http://schemas.microsoft.com/office/drawing/2014/main" id="{CEDB22D8-6BD2-6809-588D-D9E83BB69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11" t="1621" r="13025" b="74568"/>
          <a:stretch>
            <a:fillRect/>
          </a:stretch>
        </p:blipFill>
        <p:spPr>
          <a:xfrm>
            <a:off x="2649309" y="1517732"/>
            <a:ext cx="1852842" cy="1066718"/>
          </a:xfrm>
          <a:prstGeom prst="rect">
            <a:avLst/>
          </a:prstGeom>
        </p:spPr>
      </p:pic>
      <p:pic>
        <p:nvPicPr>
          <p:cNvPr id="3" name="Picture 2" descr="Flowchart of the present multimaterial topology optimization | Download  Scientific Diagram">
            <a:extLst>
              <a:ext uri="{FF2B5EF4-FFF2-40B4-BE49-F238E27FC236}">
                <a16:creationId xmlns:a16="http://schemas.microsoft.com/office/drawing/2014/main" id="{BA29337C-B7F7-2542-B0B9-F26D0ADC8C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67" r="42063"/>
          <a:stretch>
            <a:fillRect/>
          </a:stretch>
        </p:blipFill>
        <p:spPr>
          <a:xfrm>
            <a:off x="5070389" y="1742108"/>
            <a:ext cx="1791730" cy="45207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BF2175-D338-61E3-CE9A-913D61B1F495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A54BAC1C-AEB5-8137-2793-1C25E2119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Motivation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1969F13F-15B9-80FB-E63D-5CD558D305D0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31CE598-D983-DEC0-3997-C25400FE2ECE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C2B4B50-30AE-6D4F-0C3E-46300B3A1904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4</a:t>
            </a:fld>
            <a:endParaRPr lang="en-US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414A79-D707-45A3-BF2E-CF4E6DA08F6C}"/>
              </a:ext>
            </a:extLst>
          </p:cNvPr>
          <p:cNvCxnSpPr/>
          <p:nvPr/>
        </p:nvCxnSpPr>
        <p:spPr>
          <a:xfrm flipH="1">
            <a:off x="4502151" y="1905000"/>
            <a:ext cx="9588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19" descr="Topology Optimization (Introduction) Part 1">
            <a:extLst>
              <a:ext uri="{FF2B5EF4-FFF2-40B4-BE49-F238E27FC236}">
                <a16:creationId xmlns:a16="http://schemas.microsoft.com/office/drawing/2014/main" id="{8E62340E-A61A-D7F2-DE5C-F0A7EBEB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3" t="4055" r="65965" b="72969"/>
          <a:stretch>
            <a:fillRect/>
          </a:stretch>
        </p:blipFill>
        <p:spPr>
          <a:xfrm>
            <a:off x="7312097" y="2127688"/>
            <a:ext cx="2228215" cy="888197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DC0702-64EB-ED74-333F-B8D1A70DAE82}"/>
              </a:ext>
            </a:extLst>
          </p:cNvPr>
          <p:cNvCxnSpPr>
            <a:cxnSpLocks/>
          </p:cNvCxnSpPr>
          <p:nvPr/>
        </p:nvCxnSpPr>
        <p:spPr>
          <a:xfrm>
            <a:off x="6634475" y="2347404"/>
            <a:ext cx="55372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79E31ADF-A518-54E8-CEAE-792E64503D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10000" y="2956921"/>
            <a:ext cx="1358560" cy="598463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957339-D8E3-2C02-8EAD-A635C761D8ED}"/>
              </a:ext>
            </a:extLst>
          </p:cNvPr>
          <p:cNvCxnSpPr>
            <a:cxnSpLocks/>
          </p:cNvCxnSpPr>
          <p:nvPr/>
        </p:nvCxnSpPr>
        <p:spPr>
          <a:xfrm>
            <a:off x="6634475" y="4195254"/>
            <a:ext cx="59817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0F0DEBA-D660-24F9-6FE2-7BA8DF280660}"/>
              </a:ext>
            </a:extLst>
          </p:cNvPr>
          <p:cNvCxnSpPr>
            <a:cxnSpLocks/>
          </p:cNvCxnSpPr>
          <p:nvPr/>
        </p:nvCxnSpPr>
        <p:spPr>
          <a:xfrm rot="10800000">
            <a:off x="4097466" y="6049528"/>
            <a:ext cx="1496545" cy="1270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Date Placeholder 2">
            <a:extLst>
              <a:ext uri="{FF2B5EF4-FFF2-40B4-BE49-F238E27FC236}">
                <a16:creationId xmlns:a16="http://schemas.microsoft.com/office/drawing/2014/main" id="{90E2515C-8987-360A-0115-CC25BCECB97E}"/>
              </a:ext>
            </a:extLst>
          </p:cNvPr>
          <p:cNvSpPr txBox="1">
            <a:spLocks/>
          </p:cNvSpPr>
          <p:nvPr/>
        </p:nvSpPr>
        <p:spPr>
          <a:xfrm>
            <a:off x="9301686" y="6407223"/>
            <a:ext cx="25401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Figure adapted from Banh et al. (2023)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8461E61-C649-E3E1-BF73-F0298D327EF5}"/>
                  </a:ext>
                </a:extLst>
              </p:cNvPr>
              <p:cNvSpPr/>
              <p:nvPr/>
            </p:nvSpPr>
            <p:spPr>
              <a:xfrm>
                <a:off x="730250" y="1581232"/>
                <a:ext cx="1792783" cy="100321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Very large </a:t>
                </a:r>
                <a:r>
                  <a:rPr lang="en-US" sz="1400" dirty="0">
                    <a:solidFill>
                      <a:schemeClr val="tx1"/>
                    </a:solidFill>
                  </a:rPr>
                  <a:t>number of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8461E61-C649-E3E1-BF73-F0298D327E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50" y="1581232"/>
                <a:ext cx="1792783" cy="1003218"/>
              </a:xfrm>
              <a:prstGeom prst="rect">
                <a:avLst/>
              </a:prstGeom>
              <a:blipFill>
                <a:blip r:embed="rId4"/>
                <a:stretch>
                  <a:fillRect r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74F8D3DA-4F16-DC4F-F156-E1742B5F9AA5}"/>
              </a:ext>
            </a:extLst>
          </p:cNvPr>
          <p:cNvSpPr/>
          <p:nvPr/>
        </p:nvSpPr>
        <p:spPr>
          <a:xfrm>
            <a:off x="9722707" y="2115183"/>
            <a:ext cx="1792783" cy="754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Forward solve of system PDEs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C7A5A20-4349-4CCC-A5F2-54BE1B84AC9A}"/>
                  </a:ext>
                </a:extLst>
              </p:cNvPr>
              <p:cNvSpPr/>
              <p:nvPr/>
            </p:nvSpPr>
            <p:spPr>
              <a:xfrm>
                <a:off x="1320800" y="3025107"/>
                <a:ext cx="2368549" cy="106055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For an objective function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, compute </a:t>
                </a:r>
                <a:r>
                  <a:rPr lang="en-US" sz="1400" b="1" dirty="0">
                    <a:solidFill>
                      <a:schemeClr val="tx1"/>
                    </a:solidFill>
                  </a:rPr>
                  <a:t>gradients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𝑱</m:t>
                        </m:r>
                      </m:num>
                      <m:den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  <m:sSub>
                          <m:sSubPr>
                            <m:ctrlP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C7A5A20-4349-4CCC-A5F2-54BE1B84A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3025107"/>
                <a:ext cx="2368549" cy="10605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1205295A-9523-73BC-0B30-7CDF8EEDA98F}"/>
              </a:ext>
            </a:extLst>
          </p:cNvPr>
          <p:cNvSpPr/>
          <p:nvPr/>
        </p:nvSpPr>
        <p:spPr>
          <a:xfrm>
            <a:off x="7312097" y="3817982"/>
            <a:ext cx="1792783" cy="754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Gradient-based optimizer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4B27EA-A653-DD31-1867-52F98799CF62}"/>
              </a:ext>
            </a:extLst>
          </p:cNvPr>
          <p:cNvSpPr/>
          <p:nvPr/>
        </p:nvSpPr>
        <p:spPr>
          <a:xfrm>
            <a:off x="2097096" y="5529538"/>
            <a:ext cx="1792783" cy="754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Design file to be fabricated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22F5AA-9828-0129-6BBA-96D2AFF0038E}"/>
              </a:ext>
            </a:extLst>
          </p:cNvPr>
          <p:cNvSpPr/>
          <p:nvPr/>
        </p:nvSpPr>
        <p:spPr>
          <a:xfrm>
            <a:off x="685471" y="1517732"/>
            <a:ext cx="11008165" cy="3898818"/>
          </a:xfrm>
          <a:prstGeom prst="rect">
            <a:avLst/>
          </a:prstGeom>
          <a:solidFill>
            <a:srgbClr val="39361A">
              <a:alpha val="9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01C52F-B9B1-F50A-1939-4294D0A42789}"/>
              </a:ext>
            </a:extLst>
          </p:cNvPr>
          <p:cNvSpPr txBox="1"/>
          <p:nvPr/>
        </p:nvSpPr>
        <p:spPr>
          <a:xfrm>
            <a:off x="1148163" y="2647950"/>
            <a:ext cx="746348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</a:rPr>
              <a:t>Black Box in commercial topology optimizers</a:t>
            </a:r>
          </a:p>
          <a:p>
            <a:r>
              <a:rPr lang="en-US" dirty="0">
                <a:solidFill>
                  <a:schemeClr val="bg2"/>
                </a:solidFill>
              </a:rPr>
              <a:t>Very few end-to-end open-source topology optimizers</a:t>
            </a:r>
          </a:p>
          <a:p>
            <a:r>
              <a:rPr lang="en-US" dirty="0">
                <a:solidFill>
                  <a:schemeClr val="bg2"/>
                </a:solidFill>
              </a:rPr>
              <a:t>Julia libraries like </a:t>
            </a:r>
            <a:r>
              <a:rPr lang="en-US" dirty="0" err="1">
                <a:solidFill>
                  <a:schemeClr val="bg2"/>
                </a:solidFill>
              </a:rPr>
              <a:t>TopOpt.jl</a:t>
            </a:r>
            <a:r>
              <a:rPr lang="en-US" dirty="0">
                <a:solidFill>
                  <a:schemeClr val="bg2"/>
                </a:solidFill>
              </a:rPr>
              <a:t> limited to a few pre-defined meshes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5" name="Picture 14" descr="Carbon Full Suspension Fat Bike">
            <a:extLst>
              <a:ext uri="{FF2B5EF4-FFF2-40B4-BE49-F238E27FC236}">
                <a16:creationId xmlns:a16="http://schemas.microsoft.com/office/drawing/2014/main" id="{64948A77-8178-C689-67ED-DB061E263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375248" y="2049774"/>
            <a:ext cx="2898234" cy="289823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852EAC7-28F6-3D11-D633-056567E62140}"/>
              </a:ext>
            </a:extLst>
          </p:cNvPr>
          <p:cNvSpPr/>
          <p:nvPr/>
        </p:nvSpPr>
        <p:spPr>
          <a:xfrm>
            <a:off x="8989541" y="3025107"/>
            <a:ext cx="1526059" cy="11267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3090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8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782D1-3C7F-6A0D-A020-445DEA36C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ology Optimization (Introduction) Part 1">
            <a:extLst>
              <a:ext uri="{FF2B5EF4-FFF2-40B4-BE49-F238E27FC236}">
                <a16:creationId xmlns:a16="http://schemas.microsoft.com/office/drawing/2014/main" id="{4C52BA45-9608-E15B-B306-8A83323525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11" t="1621" r="13025" b="74568"/>
          <a:stretch>
            <a:fillRect/>
          </a:stretch>
        </p:blipFill>
        <p:spPr>
          <a:xfrm>
            <a:off x="2649309" y="1517732"/>
            <a:ext cx="1852842" cy="1066718"/>
          </a:xfrm>
          <a:prstGeom prst="rect">
            <a:avLst/>
          </a:prstGeom>
        </p:spPr>
      </p:pic>
      <p:pic>
        <p:nvPicPr>
          <p:cNvPr id="3" name="Picture 2" descr="Flowchart of the present multimaterial topology optimization | Download  Scientific Diagram">
            <a:extLst>
              <a:ext uri="{FF2B5EF4-FFF2-40B4-BE49-F238E27FC236}">
                <a16:creationId xmlns:a16="http://schemas.microsoft.com/office/drawing/2014/main" id="{6DF961AC-0104-892F-E9D1-6579E4289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67" r="42063"/>
          <a:stretch>
            <a:fillRect/>
          </a:stretch>
        </p:blipFill>
        <p:spPr>
          <a:xfrm>
            <a:off x="5070389" y="1742108"/>
            <a:ext cx="1791730" cy="45207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6E9443-E3E0-B825-F2A2-C0638D6F2E90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B45F5E02-BECA-4E36-FB91-BB455563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Motivation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20CE3F42-37CC-7FB3-73DF-9A0BFD76B95D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F501F6-84ED-6CA9-4127-4C58E520B52A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27FF69C-D781-6A13-8D36-E5A07595C891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5</a:t>
            </a:fld>
            <a:endParaRPr lang="en-US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22B3DC-53A7-EF44-5A66-15739708C8A9}"/>
              </a:ext>
            </a:extLst>
          </p:cNvPr>
          <p:cNvCxnSpPr/>
          <p:nvPr/>
        </p:nvCxnSpPr>
        <p:spPr>
          <a:xfrm flipH="1">
            <a:off x="4502151" y="1905000"/>
            <a:ext cx="9588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19" descr="Topology Optimization (Introduction) Part 1">
            <a:extLst>
              <a:ext uri="{FF2B5EF4-FFF2-40B4-BE49-F238E27FC236}">
                <a16:creationId xmlns:a16="http://schemas.microsoft.com/office/drawing/2014/main" id="{A35885AA-4771-F1EE-D23D-4EF4E477BA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3" t="4055" r="65965" b="72969"/>
          <a:stretch>
            <a:fillRect/>
          </a:stretch>
        </p:blipFill>
        <p:spPr>
          <a:xfrm>
            <a:off x="7312097" y="2127688"/>
            <a:ext cx="2228215" cy="888197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E2099B-F237-29F1-BD18-1146BD59F707}"/>
              </a:ext>
            </a:extLst>
          </p:cNvPr>
          <p:cNvCxnSpPr>
            <a:cxnSpLocks/>
          </p:cNvCxnSpPr>
          <p:nvPr/>
        </p:nvCxnSpPr>
        <p:spPr>
          <a:xfrm>
            <a:off x="6634475" y="2347404"/>
            <a:ext cx="55372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9A8A4EE-E1BE-8B40-39FA-8063654CCB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10000" y="2956921"/>
            <a:ext cx="1358560" cy="598463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C3705B-0046-E4E8-A86E-6A86AEE3A24C}"/>
              </a:ext>
            </a:extLst>
          </p:cNvPr>
          <p:cNvCxnSpPr>
            <a:cxnSpLocks/>
          </p:cNvCxnSpPr>
          <p:nvPr/>
        </p:nvCxnSpPr>
        <p:spPr>
          <a:xfrm>
            <a:off x="6634475" y="4195254"/>
            <a:ext cx="59817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B20F7ED-D482-308C-EC74-D966C8E5145E}"/>
              </a:ext>
            </a:extLst>
          </p:cNvPr>
          <p:cNvCxnSpPr>
            <a:cxnSpLocks/>
          </p:cNvCxnSpPr>
          <p:nvPr/>
        </p:nvCxnSpPr>
        <p:spPr>
          <a:xfrm rot="10800000">
            <a:off x="4097466" y="6049528"/>
            <a:ext cx="1496545" cy="1270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Date Placeholder 2">
            <a:extLst>
              <a:ext uri="{FF2B5EF4-FFF2-40B4-BE49-F238E27FC236}">
                <a16:creationId xmlns:a16="http://schemas.microsoft.com/office/drawing/2014/main" id="{D0901120-5D1F-1D79-A8B3-69AA89140558}"/>
              </a:ext>
            </a:extLst>
          </p:cNvPr>
          <p:cNvSpPr txBox="1">
            <a:spLocks/>
          </p:cNvSpPr>
          <p:nvPr/>
        </p:nvSpPr>
        <p:spPr>
          <a:xfrm>
            <a:off x="9301686" y="6407223"/>
            <a:ext cx="25401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Figure adapted from Banh et al. (2023)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085551-E34F-76B4-731C-F429A601619E}"/>
                  </a:ext>
                </a:extLst>
              </p:cNvPr>
              <p:cNvSpPr/>
              <p:nvPr/>
            </p:nvSpPr>
            <p:spPr>
              <a:xfrm>
                <a:off x="730250" y="1581232"/>
                <a:ext cx="1792783" cy="100321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Very large </a:t>
                </a:r>
                <a:r>
                  <a:rPr lang="en-US" sz="1400" dirty="0">
                    <a:solidFill>
                      <a:schemeClr val="tx1"/>
                    </a:solidFill>
                  </a:rPr>
                  <a:t>number of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085551-E34F-76B4-731C-F429A6016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50" y="1581232"/>
                <a:ext cx="1792783" cy="1003218"/>
              </a:xfrm>
              <a:prstGeom prst="rect">
                <a:avLst/>
              </a:prstGeom>
              <a:blipFill>
                <a:blip r:embed="rId4"/>
                <a:stretch>
                  <a:fillRect r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64E803B-259B-7B0F-B832-6E6E9459F3EF}"/>
              </a:ext>
            </a:extLst>
          </p:cNvPr>
          <p:cNvSpPr/>
          <p:nvPr/>
        </p:nvSpPr>
        <p:spPr>
          <a:xfrm>
            <a:off x="9722707" y="2115183"/>
            <a:ext cx="1792783" cy="754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Forward solve of system PDEs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6C1E3A-7C4D-CA0F-0E0D-6C68C111EB4D}"/>
                  </a:ext>
                </a:extLst>
              </p:cNvPr>
              <p:cNvSpPr/>
              <p:nvPr/>
            </p:nvSpPr>
            <p:spPr>
              <a:xfrm>
                <a:off x="1320800" y="3025107"/>
                <a:ext cx="2368549" cy="106055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For an objective function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, compute </a:t>
                </a:r>
                <a:r>
                  <a:rPr lang="en-US" sz="1400" b="1" dirty="0">
                    <a:solidFill>
                      <a:schemeClr val="tx1"/>
                    </a:solidFill>
                  </a:rPr>
                  <a:t>gradients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𝑱</m:t>
                        </m:r>
                      </m:num>
                      <m:den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  <m:sSub>
                          <m:sSubPr>
                            <m:ctrlP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6C1E3A-7C4D-CA0F-0E0D-6C68C111EB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3025107"/>
                <a:ext cx="2368549" cy="10605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F30C42C7-6551-AF74-3E38-771C12455DB3}"/>
              </a:ext>
            </a:extLst>
          </p:cNvPr>
          <p:cNvSpPr/>
          <p:nvPr/>
        </p:nvSpPr>
        <p:spPr>
          <a:xfrm>
            <a:off x="7312097" y="3817982"/>
            <a:ext cx="1792783" cy="754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Gradient-based optimizer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55B30B-53DA-83EF-2D77-618068E7FEF4}"/>
              </a:ext>
            </a:extLst>
          </p:cNvPr>
          <p:cNvSpPr/>
          <p:nvPr/>
        </p:nvSpPr>
        <p:spPr>
          <a:xfrm>
            <a:off x="2097096" y="5529538"/>
            <a:ext cx="1792783" cy="754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Design file to be fabricated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1C5FFC-B6C2-0F30-241A-300C26DC4F68}"/>
              </a:ext>
            </a:extLst>
          </p:cNvPr>
          <p:cNvSpPr/>
          <p:nvPr/>
        </p:nvSpPr>
        <p:spPr>
          <a:xfrm>
            <a:off x="685471" y="1517732"/>
            <a:ext cx="11008165" cy="3898818"/>
          </a:xfrm>
          <a:prstGeom prst="rect">
            <a:avLst/>
          </a:prstGeom>
          <a:solidFill>
            <a:srgbClr val="39361A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modular Julia algorithm lets us inspect and modify each algorithmic component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Add custom constraints for manufacturing, </a:t>
            </a:r>
            <a:r>
              <a:rPr lang="en-US" dirty="0" err="1"/>
              <a:t>multiphysics</a:t>
            </a:r>
            <a:r>
              <a:rPr lang="en-US" dirty="0"/>
              <a:t> etc.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Search for optimal hyperparameters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Work with more complex objectives</a:t>
            </a:r>
          </a:p>
          <a:p>
            <a:pPr algn="ctr"/>
            <a:r>
              <a:rPr lang="en-US" dirty="0"/>
              <a:t>Leverage Julia’s JIT computation, AD libraries etc. to balance runtime and keep code intuitive</a:t>
            </a:r>
          </a:p>
        </p:txBody>
      </p:sp>
    </p:spTree>
    <p:extLst>
      <p:ext uri="{BB962C8B-B14F-4D97-AF65-F5344CB8AC3E}">
        <p14:creationId xmlns:p14="http://schemas.microsoft.com/office/powerpoint/2010/main" val="2606497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C92B0-EFE9-1A7D-2F56-BDE88062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EB7B20-9852-4D01-2C43-D83817CB7951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653C4E63-C10A-88E5-D7DB-712141DB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Proposed General Algorithm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8838E13-7646-B2AF-50E3-2D7DD541E350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A46B704-C72A-637C-C40B-A4C42C597574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C875CB8-1664-172D-10F2-717C0BF54A87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6</a:t>
            </a:fld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8A2C73-2E3F-52E3-6570-F101D030F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480" y="1700181"/>
            <a:ext cx="1503353" cy="52784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29B24AD-4628-0AC9-8CF2-7D0578221471}"/>
              </a:ext>
            </a:extLst>
          </p:cNvPr>
          <p:cNvSpPr/>
          <p:nvPr/>
        </p:nvSpPr>
        <p:spPr>
          <a:xfrm>
            <a:off x="774700" y="1721049"/>
            <a:ext cx="1358900" cy="1135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Gmsh.jl</a:t>
            </a:r>
            <a:endParaRPr lang="en-US" sz="1200" b="1" dirty="0"/>
          </a:p>
          <a:p>
            <a:pPr algn="ctr"/>
            <a:r>
              <a:rPr lang="en-US" sz="1200" dirty="0"/>
              <a:t>Define design area and constraints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9A05C9-42B2-6EE0-7E26-2D3FD449C6CB}"/>
              </a:ext>
            </a:extLst>
          </p:cNvPr>
          <p:cNvSpPr/>
          <p:nvPr/>
        </p:nvSpPr>
        <p:spPr>
          <a:xfrm>
            <a:off x="4191000" y="1721049"/>
            <a:ext cx="1562100" cy="1135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Gridap.jl</a:t>
            </a:r>
            <a:endParaRPr lang="en-US" sz="1200" b="1" dirty="0"/>
          </a:p>
          <a:p>
            <a:pPr algn="ctr"/>
            <a:r>
              <a:rPr lang="en-US" sz="1200" dirty="0"/>
              <a:t>Identify FEM params and define integration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20819F-DFAB-8FD2-80E0-FC52D33AD3A5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33600" y="2288862"/>
            <a:ext cx="205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C50D43-9B13-152D-A93A-4681563E7EB7}"/>
              </a:ext>
            </a:extLst>
          </p:cNvPr>
          <p:cNvSpPr txBox="1"/>
          <p:nvPr/>
        </p:nvSpPr>
        <p:spPr>
          <a:xfrm>
            <a:off x="2520950" y="2371030"/>
            <a:ext cx="1276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Mesh file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973C0F-9CD6-EAE9-67BD-8342F41EFFE2}"/>
              </a:ext>
            </a:extLst>
          </p:cNvPr>
          <p:cNvCxnSpPr>
            <a:cxnSpLocks/>
            <a:stCxn id="53" idx="3"/>
            <a:endCxn id="34" idx="1"/>
          </p:cNvCxnSpPr>
          <p:nvPr/>
        </p:nvCxnSpPr>
        <p:spPr>
          <a:xfrm>
            <a:off x="7917815" y="2281630"/>
            <a:ext cx="937260" cy="70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A2E8ABF-1713-7F44-93DF-E22D080E55DC}"/>
              </a:ext>
            </a:extLst>
          </p:cNvPr>
          <p:cNvSpPr/>
          <p:nvPr/>
        </p:nvSpPr>
        <p:spPr>
          <a:xfrm>
            <a:off x="8855075" y="1720915"/>
            <a:ext cx="1631949" cy="1135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Helmholtz filter</a:t>
            </a:r>
            <a:endParaRPr lang="en-US" sz="1200" dirty="0"/>
          </a:p>
          <a:p>
            <a:pPr algn="ctr"/>
            <a:r>
              <a:rPr lang="en-US" sz="1200" dirty="0"/>
              <a:t>Smooth design via minimum length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7482C0-259C-41EF-2FDA-A5AF4201B5FE}"/>
                  </a:ext>
                </a:extLst>
              </p:cNvPr>
              <p:cNvSpPr txBox="1"/>
              <p:nvPr/>
            </p:nvSpPr>
            <p:spPr>
              <a:xfrm>
                <a:off x="7882889" y="1956871"/>
                <a:ext cx="971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7482C0-259C-41EF-2FDA-A5AF4201B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889" y="1956871"/>
                <a:ext cx="971550" cy="276999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0088185-F91D-71E1-B5D9-353772700261}"/>
              </a:ext>
            </a:extLst>
          </p:cNvPr>
          <p:cNvSpPr/>
          <p:nvPr/>
        </p:nvSpPr>
        <p:spPr>
          <a:xfrm>
            <a:off x="8728063" y="3564170"/>
            <a:ext cx="1885969" cy="1135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Threshold Projection</a:t>
            </a:r>
            <a:endParaRPr lang="en-US" sz="1200" dirty="0"/>
          </a:p>
          <a:p>
            <a:pPr algn="ctr"/>
            <a:r>
              <a:rPr lang="en-US" sz="1200" dirty="0"/>
              <a:t>Push intermediate values to density of 0 or 1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9037940-CE8D-6D06-27B7-289AF10E60A5}"/>
              </a:ext>
            </a:extLst>
          </p:cNvPr>
          <p:cNvCxnSpPr>
            <a:cxnSpLocks/>
            <a:stCxn id="25" idx="3"/>
            <a:endCxn id="53" idx="1"/>
          </p:cNvCxnSpPr>
          <p:nvPr/>
        </p:nvCxnSpPr>
        <p:spPr>
          <a:xfrm flipV="1">
            <a:off x="5753100" y="2281630"/>
            <a:ext cx="908978" cy="72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7B1715-0EB0-97BE-A3ED-9EB5BD39578A}"/>
                  </a:ext>
                </a:extLst>
              </p:cNvPr>
              <p:cNvSpPr txBox="1"/>
              <p:nvPr/>
            </p:nvSpPr>
            <p:spPr>
              <a:xfrm>
                <a:off x="9012213" y="3072361"/>
                <a:ext cx="971550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7B1715-0EB0-97BE-A3ED-9EB5BD3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213" y="3072361"/>
                <a:ext cx="971550" cy="291811"/>
              </a:xfrm>
              <a:prstGeom prst="rect">
                <a:avLst/>
              </a:prstGeom>
              <a:blipFill>
                <a:blip r:embed="rId4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A57EE7F-49C1-E10A-729E-0BA60DFB8AEF}"/>
              </a:ext>
            </a:extLst>
          </p:cNvPr>
          <p:cNvSpPr/>
          <p:nvPr/>
        </p:nvSpPr>
        <p:spPr>
          <a:xfrm>
            <a:off x="6656352" y="3564169"/>
            <a:ext cx="1255737" cy="1135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Assemble physical system equations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A41ED89-F1F1-5343-7386-5973304AD896}"/>
              </a:ext>
            </a:extLst>
          </p:cNvPr>
          <p:cNvSpPr/>
          <p:nvPr/>
        </p:nvSpPr>
        <p:spPr>
          <a:xfrm>
            <a:off x="6662078" y="1713817"/>
            <a:ext cx="1255737" cy="1135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Initialize with uniform material distribution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A161FA2-0A28-9A67-4449-3C0F6CFCE831}"/>
              </a:ext>
            </a:extLst>
          </p:cNvPr>
          <p:cNvCxnSpPr>
            <a:cxnSpLocks/>
            <a:stCxn id="34" idx="2"/>
            <a:endCxn id="38" idx="0"/>
          </p:cNvCxnSpPr>
          <p:nvPr/>
        </p:nvCxnSpPr>
        <p:spPr>
          <a:xfrm flipH="1">
            <a:off x="9671048" y="2856540"/>
            <a:ext cx="2" cy="7076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D75309C-45E9-40AE-BBE0-C1FC1A13F392}"/>
              </a:ext>
            </a:extLst>
          </p:cNvPr>
          <p:cNvCxnSpPr>
            <a:cxnSpLocks/>
            <a:stCxn id="38" idx="1"/>
            <a:endCxn id="50" idx="3"/>
          </p:cNvCxnSpPr>
          <p:nvPr/>
        </p:nvCxnSpPr>
        <p:spPr>
          <a:xfrm flipH="1" flipV="1">
            <a:off x="7912089" y="4131982"/>
            <a:ext cx="815974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A607269-B81B-4F58-F5E5-40552D19D57E}"/>
                  </a:ext>
                </a:extLst>
              </p:cNvPr>
              <p:cNvSpPr txBox="1"/>
              <p:nvPr/>
            </p:nvSpPr>
            <p:spPr>
              <a:xfrm>
                <a:off x="7882888" y="3785313"/>
                <a:ext cx="971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A607269-B81B-4F58-F5E5-40552D19D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888" y="3785313"/>
                <a:ext cx="97155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23FDD91-E082-7FFC-66E4-F3AD116E790B}"/>
              </a:ext>
            </a:extLst>
          </p:cNvPr>
          <p:cNvCxnSpPr>
            <a:cxnSpLocks/>
            <a:stCxn id="50" idx="1"/>
            <a:endCxn id="72" idx="3"/>
          </p:cNvCxnSpPr>
          <p:nvPr/>
        </p:nvCxnSpPr>
        <p:spPr>
          <a:xfrm flipH="1">
            <a:off x="6142414" y="4131982"/>
            <a:ext cx="51393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0B2AF4D-6D23-A1A4-9E84-B7030E009ADA}"/>
              </a:ext>
            </a:extLst>
          </p:cNvPr>
          <p:cNvSpPr/>
          <p:nvPr/>
        </p:nvSpPr>
        <p:spPr>
          <a:xfrm>
            <a:off x="4727985" y="3564170"/>
            <a:ext cx="1414429" cy="11356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Forward solve and define objective function 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3A49292-3A37-429C-4B53-196855C91073}"/>
              </a:ext>
            </a:extLst>
          </p:cNvPr>
          <p:cNvSpPr/>
          <p:nvPr/>
        </p:nvSpPr>
        <p:spPr>
          <a:xfrm>
            <a:off x="2434480" y="3564168"/>
            <a:ext cx="1458890" cy="1135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Zygote.jl</a:t>
            </a:r>
          </a:p>
          <a:p>
            <a:pPr algn="ctr"/>
            <a:r>
              <a:rPr lang="en-US" sz="1200" dirty="0"/>
              <a:t>Compute adjoint sensitivities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6866D6C-A8C3-3A4C-956E-7E2F5DD991E3}"/>
              </a:ext>
            </a:extLst>
          </p:cNvPr>
          <p:cNvCxnSpPr>
            <a:cxnSpLocks/>
            <a:stCxn id="72" idx="1"/>
            <a:endCxn id="73" idx="3"/>
          </p:cNvCxnSpPr>
          <p:nvPr/>
        </p:nvCxnSpPr>
        <p:spPr>
          <a:xfrm flipH="1" flipV="1">
            <a:off x="3893370" y="4131981"/>
            <a:ext cx="834615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6870C98-C468-70E5-504B-43C9D111B10A}"/>
                  </a:ext>
                </a:extLst>
              </p:cNvPr>
              <p:cNvSpPr txBox="1"/>
              <p:nvPr/>
            </p:nvSpPr>
            <p:spPr>
              <a:xfrm>
                <a:off x="3834223" y="3831874"/>
                <a:ext cx="971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6870C98-C468-70E5-504B-43C9D111B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223" y="3831874"/>
                <a:ext cx="97155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462441A2-17E9-637D-63E0-5D144A7FC34F}"/>
              </a:ext>
            </a:extLst>
          </p:cNvPr>
          <p:cNvSpPr/>
          <p:nvPr/>
        </p:nvSpPr>
        <p:spPr>
          <a:xfrm>
            <a:off x="774700" y="5157819"/>
            <a:ext cx="1885969" cy="11356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NLOpt.jl</a:t>
            </a:r>
            <a:endParaRPr lang="en-US" sz="1200" dirty="0"/>
          </a:p>
          <a:p>
            <a:pPr algn="ctr"/>
            <a:r>
              <a:rPr lang="en-US" sz="1200" dirty="0"/>
              <a:t>Method of Moving Asymptotes (MMA) optimization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A03C20FB-54B5-000D-8F72-A9270B8ED79D}"/>
              </a:ext>
            </a:extLst>
          </p:cNvPr>
          <p:cNvCxnSpPr>
            <a:stCxn id="73" idx="1"/>
            <a:endCxn id="93" idx="0"/>
          </p:cNvCxnSpPr>
          <p:nvPr/>
        </p:nvCxnSpPr>
        <p:spPr>
          <a:xfrm rot="10800000" flipV="1">
            <a:off x="1717686" y="4131981"/>
            <a:ext cx="716795" cy="102583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CCF5FA2-0E88-7DEB-DCAA-B98D094BC5BD}"/>
                  </a:ext>
                </a:extLst>
              </p:cNvPr>
              <p:cNvSpPr txBox="1"/>
              <p:nvPr/>
            </p:nvSpPr>
            <p:spPr>
              <a:xfrm>
                <a:off x="1136892" y="4289367"/>
                <a:ext cx="749300" cy="474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𝑑𝑔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CCF5FA2-0E88-7DEB-DCAA-B98D094BC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892" y="4289367"/>
                <a:ext cx="749300" cy="474297"/>
              </a:xfrm>
              <a:prstGeom prst="rect">
                <a:avLst/>
              </a:prstGeom>
              <a:blipFill>
                <a:blip r:embed="rId7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21106D2-C59A-32BF-E532-077141A2956F}"/>
              </a:ext>
            </a:extLst>
          </p:cNvPr>
          <p:cNvCxnSpPr>
            <a:cxnSpLocks/>
            <a:stCxn id="93" idx="3"/>
          </p:cNvCxnSpPr>
          <p:nvPr/>
        </p:nvCxnSpPr>
        <p:spPr>
          <a:xfrm flipV="1">
            <a:off x="2660669" y="5725629"/>
            <a:ext cx="498456" cy="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lowchart: Decision 103">
            <a:extLst>
              <a:ext uri="{FF2B5EF4-FFF2-40B4-BE49-F238E27FC236}">
                <a16:creationId xmlns:a16="http://schemas.microsoft.com/office/drawing/2014/main" id="{E88B4222-8134-7FD8-90D4-22C7CB049CEB}"/>
              </a:ext>
            </a:extLst>
          </p:cNvPr>
          <p:cNvSpPr/>
          <p:nvPr/>
        </p:nvSpPr>
        <p:spPr>
          <a:xfrm>
            <a:off x="3134893" y="5252261"/>
            <a:ext cx="2618207" cy="94673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Convergence criteria met?</a:t>
            </a:r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4EAC9E07-293D-2B31-A758-84009D56B4E9}"/>
              </a:ext>
            </a:extLst>
          </p:cNvPr>
          <p:cNvCxnSpPr>
            <a:cxnSpLocks/>
            <a:stCxn id="104" idx="0"/>
            <a:endCxn id="73" idx="2"/>
          </p:cNvCxnSpPr>
          <p:nvPr/>
        </p:nvCxnSpPr>
        <p:spPr>
          <a:xfrm rot="16200000" flipV="1">
            <a:off x="3527727" y="4335991"/>
            <a:ext cx="552468" cy="1280072"/>
          </a:xfrm>
          <a:prstGeom prst="bentConnector3">
            <a:avLst>
              <a:gd name="adj1" fmla="val 32759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1F03A29-DD6D-42E6-4BF0-505935C717B5}"/>
              </a:ext>
            </a:extLst>
          </p:cNvPr>
          <p:cNvCxnSpPr>
            <a:cxnSpLocks/>
            <a:stCxn id="104" idx="3"/>
          </p:cNvCxnSpPr>
          <p:nvPr/>
        </p:nvCxnSpPr>
        <p:spPr>
          <a:xfrm>
            <a:off x="5753100" y="5725629"/>
            <a:ext cx="82740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A35057D-853C-4A21-475F-81812E0AAD8F}"/>
              </a:ext>
            </a:extLst>
          </p:cNvPr>
          <p:cNvSpPr txBox="1"/>
          <p:nvPr/>
        </p:nvSpPr>
        <p:spPr>
          <a:xfrm>
            <a:off x="3311525" y="4790306"/>
            <a:ext cx="971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600E9561-F103-D79D-96E7-63F5F36845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489" y="5290473"/>
            <a:ext cx="3560245" cy="1002971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230CDC99-EE9C-4DFC-02C4-413548495D72}"/>
              </a:ext>
            </a:extLst>
          </p:cNvPr>
          <p:cNvSpPr txBox="1"/>
          <p:nvPr/>
        </p:nvSpPr>
        <p:spPr>
          <a:xfrm>
            <a:off x="5608950" y="5396678"/>
            <a:ext cx="971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YES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B62B34B-BC6D-3A8A-5C13-8BB4C1A6CFE9}"/>
              </a:ext>
            </a:extLst>
          </p:cNvPr>
          <p:cNvSpPr txBox="1"/>
          <p:nvPr/>
        </p:nvSpPr>
        <p:spPr>
          <a:xfrm>
            <a:off x="7548863" y="4998183"/>
            <a:ext cx="117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Final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D52B9F1F-8DE3-4B03-A7FD-F3086E347E60}"/>
                  </a:ext>
                </a:extLst>
              </p:cNvPr>
              <p:cNvSpPr txBox="1"/>
              <p:nvPr/>
            </p:nvSpPr>
            <p:spPr>
              <a:xfrm>
                <a:off x="5753100" y="1944993"/>
                <a:ext cx="971550" cy="290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D52B9F1F-8DE3-4B03-A7FD-F3086E347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1944993"/>
                <a:ext cx="971550" cy="2902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EF815F3A-9D0D-1157-FBAD-E5BB6C9B0A8E}"/>
              </a:ext>
            </a:extLst>
          </p:cNvPr>
          <p:cNvSpPr txBox="1"/>
          <p:nvPr/>
        </p:nvSpPr>
        <p:spPr>
          <a:xfrm>
            <a:off x="5762625" y="2282429"/>
            <a:ext cx="971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35273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F75E4-FA96-C218-EC5A-2B7BB604C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891AF9-B942-3119-BA02-0B9D0F121823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2A4004B5-B74D-7965-9BB9-E54BEFAF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Optimization Problem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2A8F7E5D-179B-0B5A-5E3E-CA62D5B87286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26046AF-DEEA-5D68-90E1-6F527D92A2DC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24FB460-D9FC-E4A9-EA63-EA8E931165B1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7</a:t>
            </a:fld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04C35B9A-93F0-03F5-92A9-7EE0F3E85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7181" y="2775853"/>
                <a:ext cx="5521069" cy="2088247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Focus on </a:t>
                </a:r>
                <a:r>
                  <a:rPr lang="en-US" sz="2000" i="1" dirty="0">
                    <a:solidFill>
                      <a:schemeClr val="tx2"/>
                    </a:solidFill>
                  </a:rPr>
                  <a:t>linear elasticity</a:t>
                </a:r>
                <a:r>
                  <a:rPr 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sz="2000" dirty="0"/>
                  <a:t>for our experiments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Objective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800" dirty="0"/>
                  <a:t> is </a:t>
                </a:r>
                <a:r>
                  <a:rPr lang="en-US" sz="1800" i="1" dirty="0"/>
                  <a:t>elastic compliance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Volume Constraint: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Force Constraint: </a:t>
                </a:r>
                <a:r>
                  <a:rPr lang="en-US" sz="1800" dirty="0"/>
                  <a:t>Apply force vector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18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800" dirty="0"/>
                  <a:t> is stiffness matrix</a:t>
                </a:r>
              </a:p>
            </p:txBody>
          </p:sp>
        </mc:Choice>
        <mc:Fallback xmlns="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04C35B9A-93F0-03F5-92A9-7EE0F3E85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7181" y="2775853"/>
                <a:ext cx="5521069" cy="2088247"/>
              </a:xfrm>
              <a:blipFill>
                <a:blip r:embed="rId2"/>
                <a:stretch>
                  <a:fillRect l="-1215" t="-4373" r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096110B-8944-DDCB-EE8E-F40456C4E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505" y="2299197"/>
            <a:ext cx="3317946" cy="33411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6556C5-3A8F-45C4-376D-7D94C27723D3}"/>
              </a:ext>
            </a:extLst>
          </p:cNvPr>
          <p:cNvSpPr txBox="1"/>
          <p:nvPr/>
        </p:nvSpPr>
        <p:spPr>
          <a:xfrm>
            <a:off x="7283451" y="1899087"/>
            <a:ext cx="342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highlight>
                  <a:srgbClr val="A8BABF"/>
                </a:highlight>
              </a:rPr>
              <a:t>Optimization Objective</a:t>
            </a:r>
          </a:p>
        </p:txBody>
      </p:sp>
    </p:spTree>
    <p:extLst>
      <p:ext uri="{BB962C8B-B14F-4D97-AF65-F5344CB8AC3E}">
        <p14:creationId xmlns:p14="http://schemas.microsoft.com/office/powerpoint/2010/main" val="151063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7BE61-DC11-EA8D-3699-06419C8C5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E234E5-AC76-79F7-F48B-B18C7633B5E2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1D3F9F-4F82-A062-B398-45FA73D5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Forward Solve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7852F1F4-6717-4838-6B0A-BC038F5B797C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8CF07B0-A82F-AC85-5107-A3CDF75CF390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DBF573B-50D1-8153-51BB-AE928FBBD840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8</a:t>
            </a:fld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0FFABA9D-3860-F0E2-CEFA-8F373F5F0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4725" y="2252596"/>
                <a:ext cx="5521069" cy="1484997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Note:</a:t>
                </a:r>
              </a:p>
              <a:p>
                <a:r>
                  <a:rPr lang="en-US" sz="1800" dirty="0"/>
                  <a:t>Instead of enforcing differential eq. at every point, use </a:t>
                </a:r>
                <a:r>
                  <a:rPr lang="en-US" sz="1800" b="1" dirty="0"/>
                  <a:t>weak form</a:t>
                </a:r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Equation should hold “on average” against every test vector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0FFABA9D-3860-F0E2-CEFA-8F373F5F0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4725" y="2252596"/>
                <a:ext cx="5521069" cy="1484997"/>
              </a:xfrm>
              <a:blipFill>
                <a:blip r:embed="rId2"/>
                <a:stretch>
                  <a:fillRect l="-1215" t="-6584" r="-773" b="-5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44807208-8E59-F92A-6A8D-FF7702C0D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84" y="1694774"/>
            <a:ext cx="4804905" cy="29788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20E244-D350-8A59-34AF-0EC18CCD3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266" y="5413693"/>
            <a:ext cx="7702633" cy="6302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91B453-3905-3DA9-BB15-D28BBE8835AC}"/>
                  </a:ext>
                </a:extLst>
              </p:cNvPr>
              <p:cNvSpPr txBox="1"/>
              <p:nvPr/>
            </p:nvSpPr>
            <p:spPr>
              <a:xfrm>
                <a:off x="609600" y="5061282"/>
                <a:ext cx="72203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strong PDE → weak form → finite element assembly →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91B453-3905-3DA9-BB15-D28BBE883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061282"/>
                <a:ext cx="7220329" cy="369332"/>
              </a:xfrm>
              <a:prstGeom prst="rect">
                <a:avLst/>
              </a:prstGeom>
              <a:blipFill>
                <a:blip r:embed="rId5"/>
                <a:stretch>
                  <a:fillRect l="-67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1E4460E-D16E-0131-1BD4-4E496E310176}"/>
              </a:ext>
            </a:extLst>
          </p:cNvPr>
          <p:cNvSpPr txBox="1"/>
          <p:nvPr/>
        </p:nvSpPr>
        <p:spPr>
          <a:xfrm>
            <a:off x="682584" y="5558738"/>
            <a:ext cx="539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Ex:</a:t>
            </a:r>
          </a:p>
        </p:txBody>
      </p:sp>
    </p:spTree>
    <p:extLst>
      <p:ext uri="{BB962C8B-B14F-4D97-AF65-F5344CB8AC3E}">
        <p14:creationId xmlns:p14="http://schemas.microsoft.com/office/powerpoint/2010/main" val="1417878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0A661-A3D2-D536-1827-FDA424F6F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E12B7E-49E1-31A7-1B7C-CF940AA2A065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B8E975BC-8C0A-69F2-8A6C-D39053A1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Sensitivities and Optimization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FA8AD3D2-B3C2-A094-AE58-7570D9962A62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0FF1A9E-BF7F-F269-B6F7-31CBD15FC977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FD584DF-88A6-62CB-BF3A-B9B2C2EE9131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9</a:t>
            </a:fld>
            <a:endParaRPr lang="en-US" sz="1000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2316A19-F40F-FD56-F419-93D89D6A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60" y="2039253"/>
            <a:ext cx="9324340" cy="367397"/>
          </a:xfrm>
        </p:spPr>
        <p:txBody>
          <a:bodyPr>
            <a:normAutofit/>
          </a:bodyPr>
          <a:lstStyle/>
          <a:p>
            <a:r>
              <a:rPr lang="en-US" sz="2000" i="1" dirty="0" err="1"/>
              <a:t>Zygote.jl</a:t>
            </a:r>
            <a:r>
              <a:rPr lang="en-US" sz="2000" dirty="0"/>
              <a:t> pulls sensitivities backwards on this chain</a:t>
            </a:r>
            <a:endParaRPr lang="en-US" sz="1800" i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4C5ECA-5DD7-B0DD-EDD9-3D9BC46E1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32" y="2406650"/>
            <a:ext cx="3416476" cy="8763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97E18-E6D9-8D5A-9DAF-817E4E29D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" y="3698831"/>
            <a:ext cx="4490478" cy="1022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6FDA155-04F0-609E-5009-6C323E6174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860" y="4769620"/>
                <a:ext cx="10899140" cy="3673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0" indent="0" algn="l" defTabSz="914400" rtl="0" eaLnBrk="1" latinLnBrk="0" hangingPunct="1">
                  <a:lnSpc>
                    <a:spcPct val="8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28600" indent="0" algn="l" defTabSz="914400" rtl="0" eaLnBrk="1" latinLnBrk="0" hangingPunct="1">
                  <a:lnSpc>
                    <a:spcPct val="8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57200" indent="0" algn="l" defTabSz="914400" rtl="0" eaLnBrk="1" latinLnBrk="0" hangingPunct="1">
                  <a:lnSpc>
                    <a:spcPct val="8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0" algn="l" defTabSz="914400" rtl="0" eaLnBrk="1" latinLnBrk="0" hangingPunct="1">
                  <a:lnSpc>
                    <a:spcPct val="8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0" algn="l" defTabSz="914400" rtl="0" eaLnBrk="1" latinLnBrk="0" hangingPunct="1">
                  <a:lnSpc>
                    <a:spcPct val="8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Use doubling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/>
                  <a:t> scheme proposed by Sigmund (2007), performing 500 iterations 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/>
                  <a:t> from 1 to 512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6FDA155-04F0-609E-5009-6C323E617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60" y="4769620"/>
                <a:ext cx="10899140" cy="367397"/>
              </a:xfrm>
              <a:prstGeom prst="rect">
                <a:avLst/>
              </a:prstGeom>
              <a:blipFill>
                <a:blip r:embed="rId4"/>
                <a:stretch>
                  <a:fillRect l="-559" t="-2295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999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53DE1-732F-E92B-027E-FBF518E7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764439-9B8B-DDA8-8F90-B173ADEAA341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25F2EF3E-0CB4-7F21-F3DB-B68EABF0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Setup &amp; Gradient Validation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5A703754-9FD4-5938-BF42-78822AB71F63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D9A550F-26B1-B668-E4AC-7070E2A0C912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D9B522C-A4AF-881F-59D3-F485BCB2158E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10</a:t>
            </a:fld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BAA7B891-FA98-514B-5567-D7450D60B3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4209" y="1612895"/>
                <a:ext cx="6562092" cy="118895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800" dirty="0"/>
                  <a:t>2D cantilever beam with force on load patch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sz="1600" dirty="0"/>
                  <a:t> </a:t>
                </a:r>
                <a:endParaRPr lang="en-US" sz="1800" dirty="0"/>
              </a:p>
            </p:txBody>
          </p:sp>
        </mc:Choice>
        <mc:Fallback xmlns="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BAA7B891-FA98-514B-5567-D7450D60B3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209" y="1612895"/>
                <a:ext cx="6562092" cy="1188959"/>
              </a:xfrm>
              <a:blipFill>
                <a:blip r:embed="rId2"/>
                <a:stretch>
                  <a:fillRect l="-836" t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57A42246-2C3C-5D0C-DDE9-11DEEBEAF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09" y="2406519"/>
            <a:ext cx="4745989" cy="1257290"/>
          </a:xfrm>
          <a:prstGeom prst="rect">
            <a:avLst/>
          </a:prstGeom>
        </p:spPr>
      </p:pic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45F1917-9BCA-2CB9-6B65-63175D3CF3FB}"/>
              </a:ext>
            </a:extLst>
          </p:cNvPr>
          <p:cNvSpPr txBox="1">
            <a:spLocks/>
          </p:cNvSpPr>
          <p:nvPr/>
        </p:nvSpPr>
        <p:spPr>
          <a:xfrm>
            <a:off x="417013" y="6492875"/>
            <a:ext cx="1087088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[1] Steuben et al. (2017)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EC741C-5E52-BFDC-7D30-85E72C5FFFBF}"/>
              </a:ext>
            </a:extLst>
          </p:cNvPr>
          <p:cNvSpPr txBox="1"/>
          <p:nvPr/>
        </p:nvSpPr>
        <p:spPr>
          <a:xfrm>
            <a:off x="664210" y="3763967"/>
            <a:ext cx="10963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Validation</a:t>
            </a:r>
          </a:p>
          <a:p>
            <a:r>
              <a:rPr lang="en-US" dirty="0"/>
              <a:t>Directional derivative test for objective function/volume constraint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42DCBC-4174-1ED2-A576-D9C79CED4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591" y="4437233"/>
            <a:ext cx="3268268" cy="7213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C5DC38-93CE-3305-78E5-71BF247532D4}"/>
                  </a:ext>
                </a:extLst>
              </p:cNvPr>
              <p:cNvSpPr txBox="1"/>
              <p:nvPr/>
            </p:nvSpPr>
            <p:spPr>
              <a:xfrm>
                <a:off x="664209" y="5172124"/>
                <a:ext cx="109630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relative error between finite-difference and adjoint gradients for multiple random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was </a:t>
                </a:r>
                <a:r>
                  <a:rPr lang="en-US" i="1" dirty="0">
                    <a:highlight>
                      <a:srgbClr val="A8BABF"/>
                    </a:highlight>
                  </a:rPr>
                  <a:t>never above 0.01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C5DC38-93CE-3305-78E5-71BF24753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09" y="5172124"/>
                <a:ext cx="10963009" cy="646331"/>
              </a:xfrm>
              <a:prstGeom prst="rect">
                <a:avLst/>
              </a:prstGeom>
              <a:blipFill>
                <a:blip r:embed="rId5"/>
                <a:stretch>
                  <a:fillRect l="-501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AF4945A2-9658-A7D4-F387-C854A1E2E32F}"/>
              </a:ext>
            </a:extLst>
          </p:cNvPr>
          <p:cNvSpPr txBox="1">
            <a:spLocks/>
          </p:cNvSpPr>
          <p:nvPr/>
        </p:nvSpPr>
        <p:spPr>
          <a:xfrm>
            <a:off x="5255713" y="3287996"/>
            <a:ext cx="1087088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[1]</a:t>
            </a:r>
          </a:p>
        </p:txBody>
      </p:sp>
      <p:pic>
        <p:nvPicPr>
          <p:cNvPr id="3" name="Picture 2" descr="Check Mark Icon PNG Images, Vectors Free Download - Pngtree">
            <a:extLst>
              <a:ext uri="{FF2B5EF4-FFF2-40B4-BE49-F238E27FC236}">
                <a16:creationId xmlns:a16="http://schemas.microsoft.com/office/drawing/2014/main" id="{0B8408D9-BA8E-BA55-BB78-D799115710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235" t="22442" r="17059" b="17684"/>
          <a:stretch>
            <a:fillRect/>
          </a:stretch>
        </p:blipFill>
        <p:spPr>
          <a:xfrm>
            <a:off x="2745740" y="5630920"/>
            <a:ext cx="698500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34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9EE08-956E-E098-06AB-47BE8559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DE4831-E131-2DEF-4D65-6C653E4BEC8D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7D361B3C-7787-B505-EFD1-51A03615B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Setup &amp; Gradient Validation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8AD077D0-BA04-4895-8018-5224AD86F278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91FFD2F-AE3E-6DC7-0F7D-8D996A626354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7211086-6190-90B1-E60B-B3067D8602E4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11</a:t>
            </a:fld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B82DBDCD-D888-A4B4-B38F-7310D98C1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7058" y="1869870"/>
                <a:ext cx="4923790" cy="849897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2D cantilever beam with force on load patch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B82DBDCD-D888-A4B4-B38F-7310D98C1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7058" y="1869870"/>
                <a:ext cx="4923790" cy="849897"/>
              </a:xfrm>
              <a:blipFill>
                <a:blip r:embed="rId2"/>
                <a:stretch>
                  <a:fillRect l="-1115" t="-10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72A17696-6D63-E4B4-6D3D-512883AA7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07" y="2627170"/>
            <a:ext cx="4745989" cy="1257290"/>
          </a:xfrm>
          <a:prstGeom prst="rect">
            <a:avLst/>
          </a:prstGeom>
        </p:spPr>
      </p:pic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CBB52F3-D835-C91C-3545-9AA56D94EAC7}"/>
              </a:ext>
            </a:extLst>
          </p:cNvPr>
          <p:cNvSpPr txBox="1">
            <a:spLocks/>
          </p:cNvSpPr>
          <p:nvPr/>
        </p:nvSpPr>
        <p:spPr>
          <a:xfrm>
            <a:off x="417013" y="6492875"/>
            <a:ext cx="1087088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[1] Steuben et al. (2017)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8E182-9E3E-9239-336D-5BABB6A69ACA}"/>
              </a:ext>
            </a:extLst>
          </p:cNvPr>
          <p:cNvSpPr txBox="1"/>
          <p:nvPr/>
        </p:nvSpPr>
        <p:spPr>
          <a:xfrm>
            <a:off x="607058" y="4361333"/>
            <a:ext cx="5279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Validation</a:t>
            </a:r>
          </a:p>
          <a:p>
            <a:r>
              <a:rPr lang="en-US" dirty="0"/>
              <a:t>Full MMA optimization run with adjoint gradients vs finite-difference gradients for a case with </a:t>
            </a:r>
            <a:r>
              <a:rPr lang="en-US" i="1" dirty="0"/>
              <a:t>very</a:t>
            </a:r>
            <a:r>
              <a:rPr lang="en-US" dirty="0"/>
              <a:t> few parameters (np = 35)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C7F507-35C5-7390-F636-F55BD71040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410"/>
          <a:stretch>
            <a:fillRect/>
          </a:stretch>
        </p:blipFill>
        <p:spPr>
          <a:xfrm>
            <a:off x="7643175" y="1581232"/>
            <a:ext cx="2909495" cy="12691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1AAF5C-42A0-CEBF-93B1-1EE7117A8D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262" y="4994340"/>
            <a:ext cx="4862873" cy="15196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28A8DE-8970-0633-372C-6089EFDB3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262" y="3303705"/>
            <a:ext cx="4862872" cy="1569646"/>
          </a:xfrm>
          <a:prstGeom prst="rect">
            <a:avLst/>
          </a:prstGeom>
        </p:spPr>
      </p:pic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3A965FAB-C542-4041-5182-B28EA3953EE3}"/>
              </a:ext>
            </a:extLst>
          </p:cNvPr>
          <p:cNvSpPr txBox="1">
            <a:spLocks/>
          </p:cNvSpPr>
          <p:nvPr/>
        </p:nvSpPr>
        <p:spPr>
          <a:xfrm>
            <a:off x="6783803" y="3182716"/>
            <a:ext cx="4923790" cy="382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Adjoint </a:t>
            </a:r>
            <a:r>
              <a:rPr lang="en-US" dirty="0"/>
              <a:t>MMA design progression (every 50 iters)</a:t>
            </a:r>
            <a:endParaRPr lang="en-US" b="1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7BB4787D-D15D-A4C6-DFBD-5B1A24B288B2}"/>
              </a:ext>
            </a:extLst>
          </p:cNvPr>
          <p:cNvSpPr txBox="1">
            <a:spLocks/>
          </p:cNvSpPr>
          <p:nvPr/>
        </p:nvSpPr>
        <p:spPr>
          <a:xfrm>
            <a:off x="6759521" y="4879392"/>
            <a:ext cx="4923790" cy="382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Finite Diff. </a:t>
            </a:r>
            <a:r>
              <a:rPr lang="en-US" dirty="0"/>
              <a:t>MMA design progression (every 50 iters)</a:t>
            </a:r>
            <a:endParaRPr lang="en-US" b="1" dirty="0"/>
          </a:p>
        </p:txBody>
      </p:sp>
      <p:pic>
        <p:nvPicPr>
          <p:cNvPr id="17" name="Picture 16" descr="Check Mark Icon PNG Images, Vectors Free Download - Pngtree">
            <a:extLst>
              <a:ext uri="{FF2B5EF4-FFF2-40B4-BE49-F238E27FC236}">
                <a16:creationId xmlns:a16="http://schemas.microsoft.com/office/drawing/2014/main" id="{171CFEA2-117D-AB2D-366D-940029EEEB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235" t="22442" r="17059" b="17684"/>
          <a:stretch>
            <a:fillRect/>
          </a:stretch>
        </p:blipFill>
        <p:spPr>
          <a:xfrm>
            <a:off x="5870930" y="4506455"/>
            <a:ext cx="698500" cy="646331"/>
          </a:xfrm>
          <a:prstGeom prst="rect">
            <a:avLst/>
          </a:prstGeom>
        </p:spPr>
      </p:pic>
      <p:pic>
        <p:nvPicPr>
          <p:cNvPr id="18" name="Picture 17" descr="Check Mark Icon PNG Images, Vectors Free Download - Pngtree">
            <a:extLst>
              <a:ext uri="{FF2B5EF4-FFF2-40B4-BE49-F238E27FC236}">
                <a16:creationId xmlns:a16="http://schemas.microsoft.com/office/drawing/2014/main" id="{41CFBF06-BE74-989A-C71D-9DB6FFA0993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235" t="22442" r="17059" b="17684"/>
          <a:stretch>
            <a:fillRect/>
          </a:stretch>
        </p:blipFill>
        <p:spPr>
          <a:xfrm>
            <a:off x="6661154" y="1901011"/>
            <a:ext cx="698500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3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BF206-E46B-204D-4F7C-AF50ACB1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0455B0-85E4-77A4-B096-4EB698097138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ED2C1CDB-AD8D-6F1A-34A7-AEF8D58E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Fine Mesh Results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79B969B1-CEB5-2061-7538-31342143048F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80A953C-C1B1-2E7C-3CFE-1C755E005B0F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F9B577C8-FD14-C3EE-21F4-CEE5892A361D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12</a:t>
            </a:fld>
            <a:endParaRPr lang="en-US" sz="1000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27262EF-D5F1-D727-EB1B-AAF1BCFBF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9" r="2967" b="62427"/>
          <a:stretch>
            <a:fillRect/>
          </a:stretch>
        </p:blipFill>
        <p:spPr>
          <a:xfrm>
            <a:off x="342665" y="1977292"/>
            <a:ext cx="11231222" cy="8772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04E622A-2D70-C435-0B59-AA2D00DF0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502" y="3775105"/>
            <a:ext cx="8254443" cy="2701454"/>
          </a:xfrm>
          <a:prstGeom prst="rect">
            <a:avLst/>
          </a:prstGeom>
        </p:spPr>
      </p:pic>
      <p:pic>
        <p:nvPicPr>
          <p:cNvPr id="23" name="Content Placeholder 19">
            <a:extLst>
              <a:ext uri="{FF2B5EF4-FFF2-40B4-BE49-F238E27FC236}">
                <a16:creationId xmlns:a16="http://schemas.microsoft.com/office/drawing/2014/main" id="{26404A29-892E-1D3B-D06C-D80616215B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75" r="3339" b="12527"/>
          <a:stretch>
            <a:fillRect/>
          </a:stretch>
        </p:blipFill>
        <p:spPr>
          <a:xfrm>
            <a:off x="342664" y="2764602"/>
            <a:ext cx="11231224" cy="918543"/>
          </a:xfrm>
          <a:prstGeom prst="rect">
            <a:avLst/>
          </a:prstGeom>
        </p:spPr>
      </p:pic>
      <p:pic>
        <p:nvPicPr>
          <p:cNvPr id="24" name="Content Placeholder 19">
            <a:extLst>
              <a:ext uri="{FF2B5EF4-FFF2-40B4-BE49-F238E27FC236}">
                <a16:creationId xmlns:a16="http://schemas.microsoft.com/office/drawing/2014/main" id="{E25837F1-09B6-15D5-40D1-FB13F88570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08"/>
          <a:stretch>
            <a:fillRect/>
          </a:stretch>
        </p:blipFill>
        <p:spPr>
          <a:xfrm>
            <a:off x="11614344" y="1493658"/>
            <a:ext cx="272273" cy="236902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965709E-DAA4-7AEA-4076-C55361535167}"/>
              </a:ext>
            </a:extLst>
          </p:cNvPr>
          <p:cNvSpPr txBox="1"/>
          <p:nvPr/>
        </p:nvSpPr>
        <p:spPr>
          <a:xfrm>
            <a:off x="3385489" y="1636463"/>
            <a:ext cx="5418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MMA Design Progression, plotted every 50 iters | np = 14776</a:t>
            </a:r>
          </a:p>
        </p:txBody>
      </p:sp>
    </p:spTree>
    <p:extLst>
      <p:ext uri="{BB962C8B-B14F-4D97-AF65-F5344CB8AC3E}">
        <p14:creationId xmlns:p14="http://schemas.microsoft.com/office/powerpoint/2010/main" val="2189806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C72B1-66D4-098A-8E6D-C88D4041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1DF742-72D4-B6FD-05D2-56016450399A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7FEA641-EE7F-0209-08DB-DCF1C9A15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Adjoint vs Finite Difference Runtime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151F982A-E638-E117-B9C7-A4FCF19DC037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84D633C-ADAA-D975-943A-215A63C8278D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9E2167F-FCD3-2473-6417-248AF3F6D5EF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13</a:t>
            </a:fld>
            <a:endParaRPr lang="en-US" sz="10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74671AD-AFAE-A803-BC1A-43CEC92B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232" y="6085642"/>
            <a:ext cx="10653579" cy="494331"/>
          </a:xfrm>
        </p:spPr>
        <p:txBody>
          <a:bodyPr>
            <a:norm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*To save experiment time, when running finite difference only the objective function’s gradient used actual finite difference. The gradient of volume objective was calculated using adjoints, so we can 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expect </a:t>
            </a:r>
            <a:r>
              <a:rPr 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full finite-difference runtime to be even slower</a:t>
            </a: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8FE4DF-88EE-EFD6-4286-76240364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31" y="1668228"/>
            <a:ext cx="5615569" cy="38105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D087B-E243-AC01-FDCE-E74539B53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644" y="1640216"/>
            <a:ext cx="5412925" cy="383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7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A2CD-812C-F83A-A706-E54B4563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304031-20E8-FCE6-3CAE-1AE0896F287F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0CDA63A9-9E7D-6769-AE29-CC398A22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Little Sensitivity to Initialization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1EF93F81-38DB-32AE-13E9-8FC72775E7C3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8AA8766-982B-D669-CD33-D7726B89FBED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B9FB43B-E628-9077-EA99-4D57B2508B4B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14</a:t>
            </a:fld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734AAA-81BA-EC70-9D24-E0CDAB2A6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32" y="1420892"/>
            <a:ext cx="8488684" cy="51624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09B5D0-1841-F094-79DD-E8F86B696501}"/>
              </a:ext>
            </a:extLst>
          </p:cNvPr>
          <p:cNvSpPr txBox="1"/>
          <p:nvPr/>
        </p:nvSpPr>
        <p:spPr>
          <a:xfrm>
            <a:off x="9310327" y="2829265"/>
            <a:ext cx="23168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11 different initializations </a:t>
            </a:r>
          </a:p>
          <a:p>
            <a:pPr algn="r"/>
            <a:r>
              <a:rPr lang="en-US" dirty="0"/>
              <a:t>at np = 4436</a:t>
            </a:r>
            <a:r>
              <a:rPr lang="en-US" b="1" dirty="0"/>
              <a:t>:</a:t>
            </a:r>
          </a:p>
          <a:p>
            <a:pPr algn="r"/>
            <a:r>
              <a:rPr lang="en-US" dirty="0"/>
              <a:t>No major difference in any metric after running full MMA optimization</a:t>
            </a:r>
          </a:p>
        </p:txBody>
      </p:sp>
    </p:spTree>
    <p:extLst>
      <p:ext uri="{BB962C8B-B14F-4D97-AF65-F5344CB8AC3E}">
        <p14:creationId xmlns:p14="http://schemas.microsoft.com/office/powerpoint/2010/main" val="1949742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8A4E-E928-D7B6-DBF0-5DD4B1DD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B9B514-3338-AD22-FE85-5E52E94EC94C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C8716F68-F6EA-2346-3BCB-53FBCD9E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Little Sensitivity to Initialization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7A5B0CCF-7C93-460B-2097-8F862859BD94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0510490-8F3B-D6A5-A4AB-B11D879E4F34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26CC2EE-1996-A3D4-D2AE-FA0D18328C07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15</a:t>
            </a:fld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9E2E84-19F8-71A3-A4FE-BFCE44CB7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825" y="1707926"/>
            <a:ext cx="8369916" cy="48287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68C7AC-2AEE-2D75-AAA3-A2BCF3C25516}"/>
              </a:ext>
            </a:extLst>
          </p:cNvPr>
          <p:cNvSpPr txBox="1"/>
          <p:nvPr/>
        </p:nvSpPr>
        <p:spPr>
          <a:xfrm>
            <a:off x="3064474" y="1643268"/>
            <a:ext cx="610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Final designs for different initializations, np = 4436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94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E6B8C-401A-3616-8AF8-29E7E96F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7981FC-A6F5-3F58-44DD-013C93DF6674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436C2EAB-E554-2C4A-A44F-72113D65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Extension to 3D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53907F3-C3E8-41C4-9E1D-8CC6F48D7100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F4E72BD-2DE3-203A-A467-9A3D3E811884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B3C147D-C49E-4CA8-8681-F8563271E25E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16</a:t>
            </a:fld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6570F2-601F-034A-2DB3-4E4230E0BCE7}"/>
              </a:ext>
            </a:extLst>
          </p:cNvPr>
          <p:cNvSpPr txBox="1"/>
          <p:nvPr/>
        </p:nvSpPr>
        <p:spPr>
          <a:xfrm>
            <a:off x="562232" y="1755263"/>
            <a:ext cx="101387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Real Problem:</a:t>
            </a:r>
          </a:p>
          <a:p>
            <a:r>
              <a:rPr lang="en-US" dirty="0"/>
              <a:t>Bike frame design, problem modified from </a:t>
            </a:r>
            <a:r>
              <a:rPr lang="en-US" dirty="0" err="1"/>
              <a:t>Zegard</a:t>
            </a:r>
            <a:r>
              <a:rPr lang="en-US" dirty="0"/>
              <a:t> and Paulino (2013)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elasticity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Multiple forces and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3D mesh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 design area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B5F757-8DF8-ED2C-7496-D6B74425B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772" y="3621566"/>
            <a:ext cx="3264068" cy="2044805"/>
          </a:xfrm>
          <a:prstGeom prst="rect">
            <a:avLst/>
          </a:prstGeom>
        </p:spPr>
      </p:pic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D04E879F-9ED4-28A1-491F-CA1D2FE53F65}"/>
              </a:ext>
            </a:extLst>
          </p:cNvPr>
          <p:cNvSpPr txBox="1">
            <a:spLocks/>
          </p:cNvSpPr>
          <p:nvPr/>
        </p:nvSpPr>
        <p:spPr>
          <a:xfrm>
            <a:off x="417013" y="6492875"/>
            <a:ext cx="1087088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[1] </a:t>
            </a:r>
            <a:r>
              <a:rPr lang="en-US" sz="1000" dirty="0" err="1"/>
              <a:t>Zegard</a:t>
            </a:r>
            <a:r>
              <a:rPr lang="en-US" sz="1000" dirty="0"/>
              <a:t> and Paulino (2013)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17E5F-C9C3-20BF-482F-AD91ED077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35" r="6133"/>
          <a:stretch>
            <a:fillRect/>
          </a:stretch>
        </p:blipFill>
        <p:spPr>
          <a:xfrm>
            <a:off x="6141310" y="3814125"/>
            <a:ext cx="1884406" cy="19125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401929-6BE7-5CDF-198C-4426F9173014}"/>
              </a:ext>
            </a:extLst>
          </p:cNvPr>
          <p:cNvSpPr txBox="1"/>
          <p:nvPr/>
        </p:nvSpPr>
        <p:spPr>
          <a:xfrm>
            <a:off x="3742641" y="3550503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seat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CDE8FF-241F-E00C-CFC0-67275111FCF9}"/>
              </a:ext>
            </a:extLst>
          </p:cNvPr>
          <p:cNvSpPr txBox="1"/>
          <p:nvPr/>
        </p:nvSpPr>
        <p:spPr>
          <a:xfrm>
            <a:off x="4968556" y="3447535"/>
            <a:ext cx="978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handlebars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432428-3ECD-54EB-D90C-D6F7E23DD4D7}"/>
              </a:ext>
            </a:extLst>
          </p:cNvPr>
          <p:cNvSpPr txBox="1"/>
          <p:nvPr/>
        </p:nvSpPr>
        <p:spPr>
          <a:xfrm>
            <a:off x="4163398" y="5527871"/>
            <a:ext cx="6575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pedals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40CBA4-9B39-665F-C27F-18BB72BCC845}"/>
              </a:ext>
            </a:extLst>
          </p:cNvPr>
          <p:cNvSpPr txBox="1"/>
          <p:nvPr/>
        </p:nvSpPr>
        <p:spPr>
          <a:xfrm>
            <a:off x="8723380" y="4616511"/>
            <a:ext cx="1612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np=56505</a:t>
            </a:r>
          </a:p>
        </p:txBody>
      </p:sp>
    </p:spTree>
    <p:extLst>
      <p:ext uri="{BB962C8B-B14F-4D97-AF65-F5344CB8AC3E}">
        <p14:creationId xmlns:p14="http://schemas.microsoft.com/office/powerpoint/2010/main" val="4041370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25E78-37BF-3831-7D02-F3924CA3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1F02E1-1A13-F33A-EA0D-5186084EBC8E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C9A1060B-02DD-7B28-05ED-F472D31A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Extension to 3D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F2385292-0C6D-B14B-5249-2BFA30B26580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A243EF3-1F5D-EF39-3ED1-4F5101C6EE01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90D114D-9A0F-3D92-BB96-F566AE986850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17</a:t>
            </a:fld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6957EC-749D-DE14-2C99-5C95C94C6DB1}"/>
              </a:ext>
            </a:extLst>
          </p:cNvPr>
          <p:cNvSpPr txBox="1"/>
          <p:nvPr/>
        </p:nvSpPr>
        <p:spPr>
          <a:xfrm>
            <a:off x="592300" y="1440207"/>
            <a:ext cx="1094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physics and optimization parameters as 2D beam. </a:t>
            </a:r>
            <a:r>
              <a:rPr lang="en-US" i="1" dirty="0"/>
              <a:t>Only problem formulation is changed in code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A5ABD3-3ECA-4B76-92F0-BD0FD22F9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22" r="49875" b="60682"/>
          <a:stretch>
            <a:fillRect/>
          </a:stretch>
        </p:blipFill>
        <p:spPr>
          <a:xfrm>
            <a:off x="506626" y="2137462"/>
            <a:ext cx="5690287" cy="993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636C43-383E-6EE2-1A11-8FABFA76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83" r="17665" b="3261"/>
          <a:stretch>
            <a:fillRect/>
          </a:stretch>
        </p:blipFill>
        <p:spPr>
          <a:xfrm>
            <a:off x="5846194" y="3624382"/>
            <a:ext cx="5691756" cy="308561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EF1EA7F-955B-A4AC-FB87-CAE3AF20E2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267" y="3686881"/>
            <a:ext cx="4375945" cy="30631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AAC1D11-27A2-686D-589C-FCE0988C08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39" r="49875" b="13535"/>
          <a:stretch>
            <a:fillRect/>
          </a:stretch>
        </p:blipFill>
        <p:spPr>
          <a:xfrm>
            <a:off x="6196912" y="2168109"/>
            <a:ext cx="5601233" cy="87743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1743A24-DBE5-1A1A-3331-A3ABAE0A304E}"/>
              </a:ext>
            </a:extLst>
          </p:cNvPr>
          <p:cNvSpPr txBox="1"/>
          <p:nvPr/>
        </p:nvSpPr>
        <p:spPr>
          <a:xfrm>
            <a:off x="4475128" y="1915089"/>
            <a:ext cx="3443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MMA Design Iterations, 2D Projection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BECD47-D085-5BF9-A34A-D8B77B0D3C09}"/>
              </a:ext>
            </a:extLst>
          </p:cNvPr>
          <p:cNvSpPr txBox="1"/>
          <p:nvPr/>
        </p:nvSpPr>
        <p:spPr>
          <a:xfrm>
            <a:off x="4609382" y="3293997"/>
            <a:ext cx="2970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MMA Design Iterations, 3D View</a:t>
            </a:r>
          </a:p>
        </p:txBody>
      </p:sp>
    </p:spTree>
    <p:extLst>
      <p:ext uri="{BB962C8B-B14F-4D97-AF65-F5344CB8AC3E}">
        <p14:creationId xmlns:p14="http://schemas.microsoft.com/office/powerpoint/2010/main" val="459875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1142A-2C87-31EE-2151-BDEC67AD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Carbon Full Suspension Fat Bike">
            <a:extLst>
              <a:ext uri="{FF2B5EF4-FFF2-40B4-BE49-F238E27FC236}">
                <a16:creationId xmlns:a16="http://schemas.microsoft.com/office/drawing/2014/main" id="{1A9609A2-7434-1A20-D128-FEF6D1F1D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09842" y="1130916"/>
            <a:ext cx="5107989" cy="51079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7B939E-4772-550E-FF1A-3B487F5AC2DC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978D2D34-42FF-9355-E85C-73EDC900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Extension to 3D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3E2039B-1D65-0840-01D3-1DFE0D8BF08E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04E5988-B94A-8F7F-2085-81AEB4BB7AE7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6BC2BBB-2030-8289-B907-472E38040558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18</a:t>
            </a:fld>
            <a:endParaRPr lang="en-US" sz="1000" dirty="0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D29BC176-A6D3-71E8-A60A-335D72EEC80B}"/>
              </a:ext>
            </a:extLst>
          </p:cNvPr>
          <p:cNvSpPr txBox="1">
            <a:spLocks/>
          </p:cNvSpPr>
          <p:nvPr/>
        </p:nvSpPr>
        <p:spPr>
          <a:xfrm>
            <a:off x="417012" y="6492875"/>
            <a:ext cx="1087088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[1] ICAN Bikes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77B5CA-D086-1870-D96A-113FBE95A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71" y="1906438"/>
            <a:ext cx="3052361" cy="20735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1CCB57-8195-73A9-18F9-AD2594C15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71" y="4094114"/>
            <a:ext cx="3465040" cy="17382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60867C-4511-0C75-7C7D-011FA7B9AF96}"/>
              </a:ext>
            </a:extLst>
          </p:cNvPr>
          <p:cNvSpPr txBox="1"/>
          <p:nvPr/>
        </p:nvSpPr>
        <p:spPr>
          <a:xfrm>
            <a:off x="562232" y="1553329"/>
            <a:ext cx="26100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Final design file to fabricate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7DF27A9-E5CA-728C-92B7-E96512F54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31394">
            <a:off x="6750647" y="2781141"/>
            <a:ext cx="3528645" cy="1807537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2E9F35-BA4F-FA48-48E5-E9BA42045408}"/>
              </a:ext>
            </a:extLst>
          </p:cNvPr>
          <p:cNvCxnSpPr/>
          <p:nvPr/>
        </p:nvCxnSpPr>
        <p:spPr>
          <a:xfrm>
            <a:off x="4436076" y="3713205"/>
            <a:ext cx="134070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F036994-F574-2DBA-591F-37D61D2D41C7}"/>
              </a:ext>
            </a:extLst>
          </p:cNvPr>
          <p:cNvSpPr txBox="1"/>
          <p:nvPr/>
        </p:nvSpPr>
        <p:spPr>
          <a:xfrm>
            <a:off x="7810076" y="5432787"/>
            <a:ext cx="1707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Design Validation</a:t>
            </a:r>
          </a:p>
        </p:txBody>
      </p:sp>
    </p:spTree>
    <p:extLst>
      <p:ext uri="{BB962C8B-B14F-4D97-AF65-F5344CB8AC3E}">
        <p14:creationId xmlns:p14="http://schemas.microsoft.com/office/powerpoint/2010/main" val="263074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849BD-A89E-2235-99CD-1D51068C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139B66-AF32-C190-E5C1-B10B43606003}"/>
              </a:ext>
            </a:extLst>
          </p:cNvPr>
          <p:cNvSpPr/>
          <p:nvPr/>
        </p:nvSpPr>
        <p:spPr>
          <a:xfrm>
            <a:off x="0" y="0"/>
            <a:ext cx="12192000" cy="420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B13A182-E18A-E0FE-B52A-8D16F8BDC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32" y="833648"/>
            <a:ext cx="11064987" cy="747584"/>
          </a:xfrm>
        </p:spPr>
        <p:txBody>
          <a:bodyPr>
            <a:normAutofit/>
          </a:bodyPr>
          <a:lstStyle/>
          <a:p>
            <a:r>
              <a:rPr lang="en-US" sz="4400" b="1" dirty="0"/>
              <a:t>Synthesis and Future Directions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0465FBB-EDE9-6305-9A87-CDF86EB1B26B}"/>
              </a:ext>
            </a:extLst>
          </p:cNvPr>
          <p:cNvSpPr txBox="1">
            <a:spLocks/>
          </p:cNvSpPr>
          <p:nvPr/>
        </p:nvSpPr>
        <p:spPr>
          <a:xfrm>
            <a:off x="139035" y="85652"/>
            <a:ext cx="349431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May 6, 2026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AD864F4-D860-1454-A7BF-EB03E6C9C944}"/>
              </a:ext>
            </a:extLst>
          </p:cNvPr>
          <p:cNvSpPr txBox="1">
            <a:spLocks/>
          </p:cNvSpPr>
          <p:nvPr/>
        </p:nvSpPr>
        <p:spPr>
          <a:xfrm>
            <a:off x="3444240" y="85652"/>
            <a:ext cx="53035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MIT 18.337/6.7320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169C822-CE60-B826-A6E9-0C195F437A07}"/>
              </a:ext>
            </a:extLst>
          </p:cNvPr>
          <p:cNvSpPr txBox="1">
            <a:spLocks/>
          </p:cNvSpPr>
          <p:nvPr/>
        </p:nvSpPr>
        <p:spPr>
          <a:xfrm>
            <a:off x="11627219" y="85652"/>
            <a:ext cx="42920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000" smtClean="0"/>
              <a:pPr/>
              <a:t>19</a:t>
            </a:fld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F7959-D821-A319-BF55-5C08D1BC617C}"/>
              </a:ext>
            </a:extLst>
          </p:cNvPr>
          <p:cNvSpPr txBox="1"/>
          <p:nvPr/>
        </p:nvSpPr>
        <p:spPr>
          <a:xfrm>
            <a:off x="630194" y="1581232"/>
            <a:ext cx="10812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Adjoint-based topology optimization in Julia provides another level of </a:t>
            </a:r>
            <a:r>
              <a:rPr lang="en-US" b="1" dirty="0"/>
              <a:t>flexibility</a:t>
            </a:r>
            <a:r>
              <a:rPr lang="en-US" dirty="0"/>
              <a:t> and customization compared to industrial software, while leveraging the language to keep gradient computation </a:t>
            </a:r>
            <a:r>
              <a:rPr lang="en-US" b="1" dirty="0"/>
              <a:t>scalable</a:t>
            </a:r>
            <a:r>
              <a:rPr lang="en-US" dirty="0"/>
              <a:t> and the pipeline </a:t>
            </a:r>
            <a:r>
              <a:rPr lang="en-US" b="1" dirty="0"/>
              <a:t>inspectable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A4147D-E16B-8632-F8F9-F49736654E12}"/>
              </a:ext>
            </a:extLst>
          </p:cNvPr>
          <p:cNvSpPr/>
          <p:nvPr/>
        </p:nvSpPr>
        <p:spPr>
          <a:xfrm>
            <a:off x="716692" y="2712308"/>
            <a:ext cx="3367048" cy="355874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A1A31-6E45-B2BE-6F35-F266801F3A19}"/>
              </a:ext>
            </a:extLst>
          </p:cNvPr>
          <p:cNvSpPr txBox="1"/>
          <p:nvPr/>
        </p:nvSpPr>
        <p:spPr>
          <a:xfrm>
            <a:off x="893973" y="3029742"/>
            <a:ext cx="297826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Contributions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Fully transparent </a:t>
            </a:r>
            <a:r>
              <a:rPr lang="en-US" sz="1400" b="1" dirty="0"/>
              <a:t>Julia Topology Optimizer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Physics module for 2D and 3D linear elasticity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Runtime</a:t>
            </a:r>
            <a:r>
              <a:rPr lang="en-US" sz="1400" dirty="0"/>
              <a:t> benchmarking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Built-in </a:t>
            </a:r>
            <a:r>
              <a:rPr lang="en-US" sz="1400" b="1" dirty="0"/>
              <a:t>gradient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Initialization </a:t>
            </a:r>
            <a:r>
              <a:rPr lang="en-US" sz="1400" b="1" dirty="0"/>
              <a:t>sensitivity</a:t>
            </a:r>
            <a:r>
              <a:rPr lang="en-US" sz="1400" dirty="0"/>
              <a:t> tests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Demonstration of modularity through various beam + bike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A6491A-CBF9-FC82-704E-B4B15EC7E405}"/>
              </a:ext>
            </a:extLst>
          </p:cNvPr>
          <p:cNvSpPr/>
          <p:nvPr/>
        </p:nvSpPr>
        <p:spPr>
          <a:xfrm>
            <a:off x="4242487" y="2712308"/>
            <a:ext cx="2844114" cy="355874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F8B30F7-9417-B3D8-57EE-C2BFB9F438F0}"/>
                  </a:ext>
                </a:extLst>
              </p:cNvPr>
              <p:cNvSpPr txBox="1"/>
              <p:nvPr/>
            </p:nvSpPr>
            <p:spPr>
              <a:xfrm>
                <a:off x="4419769" y="3029742"/>
                <a:ext cx="2666832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Limitations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Only tested linear elasticity cases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Need real-world experimental validation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Implementation only for one type of optimizer,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dirty="0"/>
                  <a:t> schedule etc.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F8B30F7-9417-B3D8-57EE-C2BFB9F43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769" y="3029742"/>
                <a:ext cx="2666832" cy="2062103"/>
              </a:xfrm>
              <a:prstGeom prst="rect">
                <a:avLst/>
              </a:prstGeom>
              <a:blipFill>
                <a:blip r:embed="rId2"/>
                <a:stretch>
                  <a:fillRect l="-1142" t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135739-42E1-869A-7463-A669EB035437}"/>
              </a:ext>
            </a:extLst>
          </p:cNvPr>
          <p:cNvSpPr/>
          <p:nvPr/>
        </p:nvSpPr>
        <p:spPr>
          <a:xfrm>
            <a:off x="7263882" y="2712308"/>
            <a:ext cx="4264971" cy="3558746"/>
          </a:xfrm>
          <a:prstGeom prst="round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DF80D5-8033-7E54-8EB0-8332D2ACDD10}"/>
                  </a:ext>
                </a:extLst>
              </p:cNvPr>
              <p:cNvSpPr txBox="1"/>
              <p:nvPr/>
            </p:nvSpPr>
            <p:spPr>
              <a:xfrm>
                <a:off x="7525525" y="3029742"/>
                <a:ext cx="3772502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Future Directions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GPU</a:t>
                </a:r>
                <a:r>
                  <a:rPr lang="en-US" sz="1400" dirty="0"/>
                  <a:t> Acceleration/HPC Parallelization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Matrix-free methods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Avoid global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400" dirty="0"/>
                  <a:t>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New physics modules </a:t>
                </a:r>
                <a:r>
                  <a:rPr lang="en-US" sz="1400" dirty="0"/>
                  <a:t>(thermal, fluids…)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Manufacturing constraint implementation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Automatic hyperparameter tuning and optimization strategy choice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DF80D5-8033-7E54-8EB0-8332D2ACD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525" y="3029742"/>
                <a:ext cx="3772502" cy="2492990"/>
              </a:xfrm>
              <a:prstGeom prst="rect">
                <a:avLst/>
              </a:prstGeom>
              <a:blipFill>
                <a:blip r:embed="rId3"/>
                <a:stretch>
                  <a:fillRect l="-971" t="-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546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26277-9E79-8A60-77E4-51E6E7A62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5/16/2026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19C4A-800D-189C-C28C-99C2E942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3D613-68BA-B851-3796-B374F813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044EBC-88AA-42DA-F3C6-5AA7D7ED4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550" y="2212729"/>
            <a:ext cx="6776650" cy="16569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4F33ED-15A6-A0E1-3831-7D2608DAF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53" y="2216076"/>
            <a:ext cx="4719297" cy="165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16545"/>
      </p:ext>
    </p:extLst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{2EB2E88D-B2C7-4B14-ABB6-721456605C69}a66659d7-4ae5-4a84-bda5-01ae08d386fc-TF10983434-e67f-4eff-8398-e28d8d6c35c5ce98279b_win32</Template>
  <TotalTime>7546</TotalTime>
  <Words>1045</Words>
  <Application>Microsoft Office PowerPoint</Application>
  <PresentationFormat>Widescreen</PresentationFormat>
  <Paragraphs>209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Cambria Math</vt:lpstr>
      <vt:lpstr>Neue Haas Grotesk Text Pro</vt:lpstr>
      <vt:lpstr>Southwestern</vt:lpstr>
      <vt:lpstr>End-to-end Inspectable Topology Optimization in Julia via Adjoint Method</vt:lpstr>
      <vt:lpstr>Topology Optimization - Intro</vt:lpstr>
      <vt:lpstr>Finite Element Method (FEM)</vt:lpstr>
      <vt:lpstr>Motivation</vt:lpstr>
      <vt:lpstr>Motivation</vt:lpstr>
      <vt:lpstr>Proposed General Algorithm</vt:lpstr>
      <vt:lpstr>Optimization Problem</vt:lpstr>
      <vt:lpstr>Forward Solve</vt:lpstr>
      <vt:lpstr>Sensitivities and Optimization</vt:lpstr>
      <vt:lpstr>Setup &amp; Gradient Validation</vt:lpstr>
      <vt:lpstr>Setup &amp; Gradient Validation</vt:lpstr>
      <vt:lpstr>Fine Mesh Results</vt:lpstr>
      <vt:lpstr>Adjoint vs Finite Difference Runtime</vt:lpstr>
      <vt:lpstr>Little Sensitivity to Initialization</vt:lpstr>
      <vt:lpstr>Little Sensitivity to Initialization</vt:lpstr>
      <vt:lpstr>Extension to 3D</vt:lpstr>
      <vt:lpstr>Extension to 3D</vt:lpstr>
      <vt:lpstr>Extension to 3D</vt:lpstr>
      <vt:lpstr>Synthesis and Future Directions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 Wang</dc:creator>
  <cp:lastModifiedBy>Rena Wang</cp:lastModifiedBy>
  <cp:revision>39</cp:revision>
  <dcterms:created xsi:type="dcterms:W3CDTF">2026-05-05T15:21:02Z</dcterms:created>
  <dcterms:modified xsi:type="dcterms:W3CDTF">2026-05-17T00:00:27Z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